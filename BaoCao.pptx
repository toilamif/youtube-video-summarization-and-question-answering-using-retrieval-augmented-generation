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8" r:id="rId3"/>
    <p:sldId id="257" r:id="rId4"/>
    <p:sldId id="281" r:id="rId5"/>
    <p:sldId id="259" r:id="rId6"/>
    <p:sldId id="282" r:id="rId7"/>
    <p:sldId id="260" r:id="rId8"/>
    <p:sldId id="286" r:id="rId9"/>
    <p:sldId id="287" r:id="rId10"/>
    <p:sldId id="288" r:id="rId11"/>
    <p:sldId id="283" r:id="rId12"/>
    <p:sldId id="284" r:id="rId13"/>
    <p:sldId id="285" r:id="rId14"/>
    <p:sldId id="272" r:id="rId15"/>
    <p:sldId id="274" r:id="rId16"/>
    <p:sldId id="264" r:id="rId17"/>
    <p:sldId id="265" r:id="rId18"/>
    <p:sldId id="266" r:id="rId19"/>
    <p:sldId id="267" r:id="rId20"/>
    <p:sldId id="280" r:id="rId21"/>
  </p:sldIdLst>
  <p:sldSz cx="12192000" cy="6858000"/>
  <p:notesSz cx="6858000" cy="9144000"/>
  <p:embeddedFontLst>
    <p:embeddedFont>
      <p:font typeface="Bai Jamjuree" panose="020B0604020202020204" charset="-34"/>
      <p:regular r:id="rId23"/>
      <p:bold r:id="rId24"/>
      <p:italic r:id="rId25"/>
      <p:boldItalic r:id="rId26"/>
    </p:embeddedFont>
    <p:embeddedFont>
      <p:font typeface="Bai Jamjuree Medium" panose="020B0604020202020204" charset="-34"/>
      <p:regular r:id="rId27"/>
      <p:bold r:id="rId28"/>
      <p:italic r:id="rId29"/>
      <p:boldItalic r:id="rId30"/>
    </p:embeddedFont>
    <p:embeddedFont>
      <p:font typeface="Play"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gkLtmTmKq3BemyoQYgNWMoLNXa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9BCFFA-FBAA-4B6E-87EC-B02885E3A683}">
  <a:tblStyle styleId="{C59BCFFA-FBAA-4B6E-87EC-B02885E3A68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4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e79392c004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g3e79392c00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0C11F6E-4532-8158-BAF7-D6E555463803}"/>
            </a:ext>
          </a:extLst>
        </p:cNvPr>
        <p:cNvGrpSpPr/>
        <p:nvPr/>
      </p:nvGrpSpPr>
      <p:grpSpPr>
        <a:xfrm>
          <a:off x="0" y="0"/>
          <a:ext cx="0" cy="0"/>
          <a:chOff x="0" y="0"/>
          <a:chExt cx="0" cy="0"/>
        </a:xfrm>
      </p:grpSpPr>
      <p:sp>
        <p:nvSpPr>
          <p:cNvPr id="105" name="Google Shape;105;g3e79392c004_0_11:notes">
            <a:extLst>
              <a:ext uri="{FF2B5EF4-FFF2-40B4-BE49-F238E27FC236}">
                <a16:creationId xmlns:a16="http://schemas.microsoft.com/office/drawing/2014/main" id="{7BF59533-BF29-0941-62B9-012C5DE1D5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g3e79392c004_0_11:notes">
            <a:extLst>
              <a:ext uri="{FF2B5EF4-FFF2-40B4-BE49-F238E27FC236}">
                <a16:creationId xmlns:a16="http://schemas.microsoft.com/office/drawing/2014/main" id="{16905533-4905-7C25-7AFB-C0052C44B5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01230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dc317224f0_1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g3dc317224f0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6EAC066-2763-A96F-1685-C15F48C0BD1C}"/>
            </a:ext>
          </a:extLst>
        </p:cNvPr>
        <p:cNvGrpSpPr/>
        <p:nvPr/>
      </p:nvGrpSpPr>
      <p:grpSpPr>
        <a:xfrm>
          <a:off x="0" y="0"/>
          <a:ext cx="0" cy="0"/>
          <a:chOff x="0" y="0"/>
          <a:chExt cx="0" cy="0"/>
        </a:xfrm>
      </p:grpSpPr>
      <p:sp>
        <p:nvSpPr>
          <p:cNvPr id="105" name="Google Shape;105;g3e79392c004_0_11:notes">
            <a:extLst>
              <a:ext uri="{FF2B5EF4-FFF2-40B4-BE49-F238E27FC236}">
                <a16:creationId xmlns:a16="http://schemas.microsoft.com/office/drawing/2014/main" id="{6423B4ED-19A3-87F2-C5E9-DF8B3696423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g3e79392c004_0_11:notes">
            <a:extLst>
              <a:ext uri="{FF2B5EF4-FFF2-40B4-BE49-F238E27FC236}">
                <a16:creationId xmlns:a16="http://schemas.microsoft.com/office/drawing/2014/main" id="{3ABC94A6-B289-83EC-033E-247F37477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6695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e79392c004_0_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e79392c004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5AB8DE5A-A68A-6E7A-38D9-4BBFB50EE070}"/>
            </a:ext>
          </a:extLst>
        </p:cNvPr>
        <p:cNvGrpSpPr/>
        <p:nvPr/>
      </p:nvGrpSpPr>
      <p:grpSpPr>
        <a:xfrm>
          <a:off x="0" y="0"/>
          <a:ext cx="0" cy="0"/>
          <a:chOff x="0" y="0"/>
          <a:chExt cx="0" cy="0"/>
        </a:xfrm>
      </p:grpSpPr>
      <p:sp>
        <p:nvSpPr>
          <p:cNvPr id="161" name="Google Shape;161;g3e79392c004_0_131:notes">
            <a:extLst>
              <a:ext uri="{FF2B5EF4-FFF2-40B4-BE49-F238E27FC236}">
                <a16:creationId xmlns:a16="http://schemas.microsoft.com/office/drawing/2014/main" id="{C01FA82B-DB1C-0DEC-2FD7-A95E36D695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e79392c004_0_131:notes">
            <a:extLst>
              <a:ext uri="{FF2B5EF4-FFF2-40B4-BE49-F238E27FC236}">
                <a16:creationId xmlns:a16="http://schemas.microsoft.com/office/drawing/2014/main" id="{12984613-E90C-9EE8-9C90-ADB009C7E0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83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431F963E-F7ED-6305-3ACB-A510F1F754C6}"/>
            </a:ext>
          </a:extLst>
        </p:cNvPr>
        <p:cNvGrpSpPr/>
        <p:nvPr/>
      </p:nvGrpSpPr>
      <p:grpSpPr>
        <a:xfrm>
          <a:off x="0" y="0"/>
          <a:ext cx="0" cy="0"/>
          <a:chOff x="0" y="0"/>
          <a:chExt cx="0" cy="0"/>
        </a:xfrm>
      </p:grpSpPr>
      <p:sp>
        <p:nvSpPr>
          <p:cNvPr id="161" name="Google Shape;161;g3e79392c004_0_131:notes">
            <a:extLst>
              <a:ext uri="{FF2B5EF4-FFF2-40B4-BE49-F238E27FC236}">
                <a16:creationId xmlns:a16="http://schemas.microsoft.com/office/drawing/2014/main" id="{6F6A59CC-4C79-6645-83DF-D79ED2BF74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e79392c004_0_131:notes">
            <a:extLst>
              <a:ext uri="{FF2B5EF4-FFF2-40B4-BE49-F238E27FC236}">
                <a16:creationId xmlns:a16="http://schemas.microsoft.com/office/drawing/2014/main" id="{9366AF6D-8EDB-2585-9222-1C9A0DEAF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8338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F46EFE19-E522-D10B-D962-8D1E1D00950E}"/>
            </a:ext>
          </a:extLst>
        </p:cNvPr>
        <p:cNvGrpSpPr/>
        <p:nvPr/>
      </p:nvGrpSpPr>
      <p:grpSpPr>
        <a:xfrm>
          <a:off x="0" y="0"/>
          <a:ext cx="0" cy="0"/>
          <a:chOff x="0" y="0"/>
          <a:chExt cx="0" cy="0"/>
        </a:xfrm>
      </p:grpSpPr>
      <p:sp>
        <p:nvSpPr>
          <p:cNvPr id="161" name="Google Shape;161;g3e79392c004_0_131:notes">
            <a:extLst>
              <a:ext uri="{FF2B5EF4-FFF2-40B4-BE49-F238E27FC236}">
                <a16:creationId xmlns:a16="http://schemas.microsoft.com/office/drawing/2014/main" id="{A19891D6-1D64-B741-CA3D-D4D3BE7FF9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e79392c004_0_131:notes">
            <a:extLst>
              <a:ext uri="{FF2B5EF4-FFF2-40B4-BE49-F238E27FC236}">
                <a16:creationId xmlns:a16="http://schemas.microsoft.com/office/drawing/2014/main" id="{6068EAA5-4635-78FC-A356-49FC408519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5102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89098493-6A0B-75DC-EDEF-70931D17EF1D}"/>
            </a:ext>
          </a:extLst>
        </p:cNvPr>
        <p:cNvGrpSpPr/>
        <p:nvPr/>
      </p:nvGrpSpPr>
      <p:grpSpPr>
        <a:xfrm>
          <a:off x="0" y="0"/>
          <a:ext cx="0" cy="0"/>
          <a:chOff x="0" y="0"/>
          <a:chExt cx="0" cy="0"/>
        </a:xfrm>
      </p:grpSpPr>
      <p:sp>
        <p:nvSpPr>
          <p:cNvPr id="161" name="Google Shape;161;g3e79392c004_0_131:notes">
            <a:extLst>
              <a:ext uri="{FF2B5EF4-FFF2-40B4-BE49-F238E27FC236}">
                <a16:creationId xmlns:a16="http://schemas.microsoft.com/office/drawing/2014/main" id="{8DB7ABB8-0728-32B7-301E-6701E548BE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e79392c004_0_131:notes">
            <a:extLst>
              <a:ext uri="{FF2B5EF4-FFF2-40B4-BE49-F238E27FC236}">
                <a16:creationId xmlns:a16="http://schemas.microsoft.com/office/drawing/2014/main" id="{F3D58C3C-3206-25D1-CA58-9A0C0F0AE4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3318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23FC2129-BB3F-5AD7-943E-619FE3F86F68}"/>
            </a:ext>
          </a:extLst>
        </p:cNvPr>
        <p:cNvGrpSpPr/>
        <p:nvPr/>
      </p:nvGrpSpPr>
      <p:grpSpPr>
        <a:xfrm>
          <a:off x="0" y="0"/>
          <a:ext cx="0" cy="0"/>
          <a:chOff x="0" y="0"/>
          <a:chExt cx="0" cy="0"/>
        </a:xfrm>
      </p:grpSpPr>
      <p:sp>
        <p:nvSpPr>
          <p:cNvPr id="161" name="Google Shape;161;g3e79392c004_0_131:notes">
            <a:extLst>
              <a:ext uri="{FF2B5EF4-FFF2-40B4-BE49-F238E27FC236}">
                <a16:creationId xmlns:a16="http://schemas.microsoft.com/office/drawing/2014/main" id="{B41A512A-DEB1-C4AF-2511-A9C759891D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e79392c004_0_131:notes">
            <a:extLst>
              <a:ext uri="{FF2B5EF4-FFF2-40B4-BE49-F238E27FC236}">
                <a16:creationId xmlns:a16="http://schemas.microsoft.com/office/drawing/2014/main" id="{935BA5D3-9A2D-F955-7EAC-CD58E5C87F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7346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152C0022-3443-23FD-4F44-6E3D1F9E2242}"/>
            </a:ext>
          </a:extLst>
        </p:cNvPr>
        <p:cNvGrpSpPr/>
        <p:nvPr/>
      </p:nvGrpSpPr>
      <p:grpSpPr>
        <a:xfrm>
          <a:off x="0" y="0"/>
          <a:ext cx="0" cy="0"/>
          <a:chOff x="0" y="0"/>
          <a:chExt cx="0" cy="0"/>
        </a:xfrm>
      </p:grpSpPr>
      <p:sp>
        <p:nvSpPr>
          <p:cNvPr id="161" name="Google Shape;161;g3e79392c004_0_131:notes">
            <a:extLst>
              <a:ext uri="{FF2B5EF4-FFF2-40B4-BE49-F238E27FC236}">
                <a16:creationId xmlns:a16="http://schemas.microsoft.com/office/drawing/2014/main" id="{E8FA52D7-26F8-2B64-EA85-E85BA9E0B9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e79392c004_0_131:notes">
            <a:extLst>
              <a:ext uri="{FF2B5EF4-FFF2-40B4-BE49-F238E27FC236}">
                <a16:creationId xmlns:a16="http://schemas.microsoft.com/office/drawing/2014/main" id="{A2A8D20F-964A-9C8A-2A9B-576C1A7DCA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71669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e79392c004_0_1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VN"/>
              <a:t>Masked Language Modeling </a:t>
            </a:r>
            <a:endParaRPr/>
          </a:p>
          <a:p>
            <a:pPr marL="0" lvl="0" indent="0" algn="l" rtl="0">
              <a:lnSpc>
                <a:spcPct val="100000"/>
              </a:lnSpc>
              <a:spcBef>
                <a:spcPts val="0"/>
              </a:spcBef>
              <a:spcAft>
                <a:spcPts val="0"/>
              </a:spcAft>
              <a:buSzPts val="1100"/>
              <a:buNone/>
            </a:pPr>
            <a:r>
              <a:rPr lang="en-VN" b="1">
                <a:solidFill>
                  <a:schemeClr val="dk1"/>
                </a:solidFill>
              </a:rPr>
              <a:t>MLM Loss (Masked Language Modeling):</a:t>
            </a:r>
            <a:r>
              <a:rPr lang="en-VN">
                <a:solidFill>
                  <a:schemeClr val="dk1"/>
                </a:solidFill>
              </a:rPr>
              <a:t> Student tự học bằng cách đoán các từ bị che. Đây là khả năng "tự học ngữ pháp" độc lập của học trò. </a:t>
            </a:r>
            <a:endParaRPr/>
          </a:p>
          <a:p>
            <a:pPr marL="0" lvl="0" indent="0" algn="l" rtl="0">
              <a:lnSpc>
                <a:spcPct val="100000"/>
              </a:lnSpc>
              <a:spcBef>
                <a:spcPts val="0"/>
              </a:spcBef>
              <a:spcAft>
                <a:spcPts val="0"/>
              </a:spcAft>
              <a:buSzPts val="1100"/>
              <a:buNone/>
            </a:pPr>
            <a:r>
              <a:rPr lang="en-VN" b="1">
                <a:solidFill>
                  <a:schemeClr val="dk1"/>
                </a:solidFill>
              </a:rPr>
              <a:t>MSE Loss (Mean Squared Error):</a:t>
            </a:r>
            <a:r>
              <a:rPr lang="en-VN">
                <a:solidFill>
                  <a:schemeClr val="dk1"/>
                </a:solidFill>
              </a:rPr>
              <a:t> Đây là bài tập "so khớp". Nó ép từng con số trong vector của Student phải tiến sát về giá trị con số của Teacher. Càng ít sai lệch, Student càng "vị ngữ hóa" giống Teacher. </a:t>
            </a:r>
            <a:endParaRPr>
              <a:solidFill>
                <a:schemeClr val="dk1"/>
              </a:solidFill>
            </a:endParaRPr>
          </a:p>
          <a:p>
            <a:pPr marL="0" lvl="0" indent="0" algn="l" rtl="0">
              <a:lnSpc>
                <a:spcPct val="100000"/>
              </a:lnSpc>
              <a:spcBef>
                <a:spcPts val="0"/>
              </a:spcBef>
              <a:spcAft>
                <a:spcPts val="0"/>
              </a:spcAft>
              <a:buSzPts val="1100"/>
              <a:buNone/>
            </a:pPr>
            <a:r>
              <a:rPr lang="en-VN" b="1">
                <a:solidFill>
                  <a:schemeClr val="dk1"/>
                </a:solidFill>
              </a:rPr>
              <a:t>Cosine Similarity Loss:</a:t>
            </a:r>
            <a:r>
              <a:rPr lang="en-VN">
                <a:solidFill>
                  <a:schemeClr val="dk1"/>
                </a:solidFill>
              </a:rPr>
              <a:t> Thay vì so từng con số, nó so sánh </a:t>
            </a:r>
            <a:r>
              <a:rPr lang="en-VN" b="1">
                <a:solidFill>
                  <a:schemeClr val="dk1"/>
                </a:solidFill>
              </a:rPr>
              <a:t>hướng</a:t>
            </a:r>
            <a:r>
              <a:rPr lang="en-VN">
                <a:solidFill>
                  <a:schemeClr val="dk1"/>
                </a:solidFill>
              </a:rPr>
              <a:t> của vector. Nó đảm bảo rằng tư duy tổng thể của Student về ý nghĩa của câu phải trùng khớp với Teacher (ví dụ: cùng hiểu đây là một câu tin tức tích cực). </a:t>
            </a:r>
            <a:endParaRPr>
              <a:solidFill>
                <a:schemeClr val="dk1"/>
              </a:solidFill>
            </a:endParaRPr>
          </a:p>
        </p:txBody>
      </p:sp>
      <p:sp>
        <p:nvSpPr>
          <p:cNvPr id="285" name="Google Shape;285;g3e79392c004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e7be3aed06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5" name="Google Shape;315;g3e7be3aed06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dab3d66760_0_2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7" name="Google Shape;197;g3dab3d66760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dab3d66760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5" name="Google Shape;205;g3dab3d66760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ddae6ca5ec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g3ddae6ca5ec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ddae6ca5ec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6" name="Google Shape;226;g3ddae6ca5ec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dab3d66760_0_1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2" name="Google Shape;372;g3dab3d66760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800"/>
              <a:buFont typeface="Bai Jamjuree"/>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rgbClr val="153898"/>
              </a:buClr>
              <a:buSzPts val="2000"/>
              <a:buNone/>
              <a:defRPr sz="2000"/>
            </a:lvl2pPr>
            <a:lvl3pPr lvl="2" algn="ctr">
              <a:lnSpc>
                <a:spcPct val="90000"/>
              </a:lnSpc>
              <a:spcBef>
                <a:spcPts val="500"/>
              </a:spcBef>
              <a:spcAft>
                <a:spcPts val="0"/>
              </a:spcAft>
              <a:buClr>
                <a:srgbClr val="153898"/>
              </a:buClr>
              <a:buSzPts val="1800"/>
              <a:buNone/>
              <a:defRPr sz="1800"/>
            </a:lvl3pPr>
            <a:lvl4pPr lvl="3" algn="ctr">
              <a:lnSpc>
                <a:spcPct val="90000"/>
              </a:lnSpc>
              <a:spcBef>
                <a:spcPts val="500"/>
              </a:spcBef>
              <a:spcAft>
                <a:spcPts val="0"/>
              </a:spcAft>
              <a:buClr>
                <a:srgbClr val="153898"/>
              </a:buClr>
              <a:buSzPts val="1600"/>
              <a:buNone/>
              <a:defRPr sz="1600"/>
            </a:lvl4pPr>
            <a:lvl5pPr lvl="4" algn="ctr">
              <a:lnSpc>
                <a:spcPct val="90000"/>
              </a:lnSpc>
              <a:spcBef>
                <a:spcPts val="500"/>
              </a:spcBef>
              <a:spcAft>
                <a:spcPts val="0"/>
              </a:spcAft>
              <a:buClr>
                <a:srgbClr val="153898"/>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9pPr>
          </a:lstStyle>
          <a:p>
            <a:pPr marL="0" lvl="0" indent="0" algn="r" rtl="0">
              <a:spcBef>
                <a:spcPts val="0"/>
              </a:spcBef>
              <a:spcAft>
                <a:spcPts val="0"/>
              </a:spcAft>
              <a:buNone/>
            </a:pPr>
            <a:fld id="{00000000-1234-1234-1234-123412341234}" type="slidenum">
              <a:rPr lang="en-VN"/>
              <a:t>‹#›</a:t>
            </a:fld>
            <a:endParaRPr/>
          </a:p>
        </p:txBody>
      </p:sp>
      <p:pic>
        <p:nvPicPr>
          <p:cNvPr id="17" name="Google Shape;17;p12" descr="White text on a black background&#10;&#10;AI-generated content may be incorrect."/>
          <p:cNvPicPr preferRelativeResize="0"/>
          <p:nvPr/>
        </p:nvPicPr>
        <p:blipFill rotWithShape="1">
          <a:blip r:embed="rId3">
            <a:alphaModFix/>
          </a:blip>
          <a:srcRect/>
          <a:stretch/>
        </p:blipFill>
        <p:spPr>
          <a:xfrm>
            <a:off x="444136" y="333337"/>
            <a:ext cx="2253016" cy="64202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15"/>
          <p:cNvSpPr txBox="1">
            <a:spLocks noGrp="1"/>
          </p:cNvSpPr>
          <p:nvPr>
            <p:ph type="title"/>
          </p:nvPr>
        </p:nvSpPr>
        <p:spPr>
          <a:xfrm>
            <a:off x="838200" y="72347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53898"/>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5"/>
          <p:cNvSpPr txBox="1">
            <a:spLocks noGrp="1"/>
          </p:cNvSpPr>
          <p:nvPr>
            <p:ph type="body" idx="1"/>
          </p:nvPr>
        </p:nvSpPr>
        <p:spPr>
          <a:xfrm>
            <a:off x="838200" y="2056695"/>
            <a:ext cx="5181600" cy="38004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53898"/>
              </a:buClr>
              <a:buSzPts val="1800"/>
              <a:buChar char="•"/>
              <a:defRPr/>
            </a:lvl1pPr>
            <a:lvl2pPr marL="914400" lvl="1" indent="-342900" algn="l">
              <a:lnSpc>
                <a:spcPct val="90000"/>
              </a:lnSpc>
              <a:spcBef>
                <a:spcPts val="500"/>
              </a:spcBef>
              <a:spcAft>
                <a:spcPts val="0"/>
              </a:spcAft>
              <a:buClr>
                <a:srgbClr val="153898"/>
              </a:buClr>
              <a:buSzPts val="1800"/>
              <a:buChar char="•"/>
              <a:defRPr/>
            </a:lvl2pPr>
            <a:lvl3pPr marL="1371600" lvl="2" indent="-342900" algn="l">
              <a:lnSpc>
                <a:spcPct val="90000"/>
              </a:lnSpc>
              <a:spcBef>
                <a:spcPts val="500"/>
              </a:spcBef>
              <a:spcAft>
                <a:spcPts val="0"/>
              </a:spcAft>
              <a:buClr>
                <a:srgbClr val="153898"/>
              </a:buClr>
              <a:buSzPts val="1800"/>
              <a:buChar char="•"/>
              <a:defRPr/>
            </a:lvl3pPr>
            <a:lvl4pPr marL="1828800" lvl="3" indent="-342900" algn="l">
              <a:lnSpc>
                <a:spcPct val="90000"/>
              </a:lnSpc>
              <a:spcBef>
                <a:spcPts val="500"/>
              </a:spcBef>
              <a:spcAft>
                <a:spcPts val="0"/>
              </a:spcAft>
              <a:buClr>
                <a:srgbClr val="153898"/>
              </a:buClr>
              <a:buSzPts val="1800"/>
              <a:buChar char="•"/>
              <a:defRPr/>
            </a:lvl4pPr>
            <a:lvl5pPr marL="2286000" lvl="4" indent="-342900" algn="l">
              <a:lnSpc>
                <a:spcPct val="90000"/>
              </a:lnSpc>
              <a:spcBef>
                <a:spcPts val="500"/>
              </a:spcBef>
              <a:spcAft>
                <a:spcPts val="0"/>
              </a:spcAft>
              <a:buClr>
                <a:srgbClr val="15389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15"/>
          <p:cNvSpPr txBox="1">
            <a:spLocks noGrp="1"/>
          </p:cNvSpPr>
          <p:nvPr>
            <p:ph type="body" idx="2"/>
          </p:nvPr>
        </p:nvSpPr>
        <p:spPr>
          <a:xfrm>
            <a:off x="6172200" y="2056695"/>
            <a:ext cx="5181600" cy="38004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53898"/>
              </a:buClr>
              <a:buSzPts val="1800"/>
              <a:buChar char="•"/>
              <a:defRPr/>
            </a:lvl1pPr>
            <a:lvl2pPr marL="914400" lvl="1" indent="-342900" algn="l">
              <a:lnSpc>
                <a:spcPct val="90000"/>
              </a:lnSpc>
              <a:spcBef>
                <a:spcPts val="500"/>
              </a:spcBef>
              <a:spcAft>
                <a:spcPts val="0"/>
              </a:spcAft>
              <a:buClr>
                <a:srgbClr val="153898"/>
              </a:buClr>
              <a:buSzPts val="1800"/>
              <a:buChar char="•"/>
              <a:defRPr/>
            </a:lvl2pPr>
            <a:lvl3pPr marL="1371600" lvl="2" indent="-342900" algn="l">
              <a:lnSpc>
                <a:spcPct val="90000"/>
              </a:lnSpc>
              <a:spcBef>
                <a:spcPts val="500"/>
              </a:spcBef>
              <a:spcAft>
                <a:spcPts val="0"/>
              </a:spcAft>
              <a:buClr>
                <a:srgbClr val="153898"/>
              </a:buClr>
              <a:buSzPts val="1800"/>
              <a:buChar char="•"/>
              <a:defRPr/>
            </a:lvl3pPr>
            <a:lvl4pPr marL="1828800" lvl="3" indent="-342900" algn="l">
              <a:lnSpc>
                <a:spcPct val="90000"/>
              </a:lnSpc>
              <a:spcBef>
                <a:spcPts val="500"/>
              </a:spcBef>
              <a:spcAft>
                <a:spcPts val="0"/>
              </a:spcAft>
              <a:buClr>
                <a:srgbClr val="153898"/>
              </a:buClr>
              <a:buSzPts val="1800"/>
              <a:buChar char="•"/>
              <a:defRPr/>
            </a:lvl4pPr>
            <a:lvl5pPr marL="2286000" lvl="4" indent="-342900" algn="l">
              <a:lnSpc>
                <a:spcPct val="90000"/>
              </a:lnSpc>
              <a:spcBef>
                <a:spcPts val="500"/>
              </a:spcBef>
              <a:spcAft>
                <a:spcPts val="0"/>
              </a:spcAft>
              <a:buClr>
                <a:srgbClr val="15389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9pPr>
          </a:lstStyle>
          <a:p>
            <a:pPr marL="0" lvl="0" indent="0" algn="r" rtl="0">
              <a:spcBef>
                <a:spcPts val="0"/>
              </a:spcBef>
              <a:spcAft>
                <a:spcPts val="0"/>
              </a:spcAft>
              <a:buNone/>
            </a:pPr>
            <a:fld id="{00000000-1234-1234-1234-123412341234}" type="slidenum">
              <a:rPr lang="en-VN"/>
              <a:t>‹#›</a:t>
            </a:fld>
            <a:endParaRPr/>
          </a:p>
        </p:txBody>
      </p:sp>
      <p:pic>
        <p:nvPicPr>
          <p:cNvPr id="25" name="Google Shape;25;p15"/>
          <p:cNvPicPr preferRelativeResize="0"/>
          <p:nvPr/>
        </p:nvPicPr>
        <p:blipFill rotWithShape="1">
          <a:blip r:embed="rId3">
            <a:alphaModFix/>
          </a:blip>
          <a:srcRect/>
          <a:stretch/>
        </p:blipFill>
        <p:spPr>
          <a:xfrm rot="10800000" flipH="1">
            <a:off x="7766095" y="614191"/>
            <a:ext cx="3587705" cy="24396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17"/>
          <p:cNvSpPr txBox="1">
            <a:spLocks noGrp="1"/>
          </p:cNvSpPr>
          <p:nvPr>
            <p:ph type="title"/>
          </p:nvPr>
        </p:nvSpPr>
        <p:spPr>
          <a:xfrm>
            <a:off x="838200" y="827903"/>
            <a:ext cx="10515600" cy="86278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53898"/>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dt" idx="10"/>
          </p:nvPr>
        </p:nvSpPr>
        <p:spPr>
          <a:xfrm>
            <a:off x="838200" y="6566419"/>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566419"/>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56641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9pPr>
          </a:lstStyle>
          <a:p>
            <a:pPr marL="0" lvl="0" indent="0" algn="r" rtl="0">
              <a:spcBef>
                <a:spcPts val="0"/>
              </a:spcBef>
              <a:spcAft>
                <a:spcPts val="0"/>
              </a:spcAft>
              <a:buNone/>
            </a:pPr>
            <a:fld id="{00000000-1234-1234-1234-123412341234}" type="slidenum">
              <a:rPr lang="en-VN"/>
              <a:t>‹#›</a:t>
            </a:fld>
            <a:endParaRPr/>
          </a:p>
        </p:txBody>
      </p:sp>
      <p:pic>
        <p:nvPicPr>
          <p:cNvPr id="31" name="Google Shape;31;p17" descr="White text on a black background&#10;&#10;AI-generated content may be incorrect."/>
          <p:cNvPicPr preferRelativeResize="0"/>
          <p:nvPr/>
        </p:nvPicPr>
        <p:blipFill rotWithShape="1">
          <a:blip r:embed="rId3">
            <a:alphaModFix/>
          </a:blip>
          <a:srcRect/>
          <a:stretch/>
        </p:blipFill>
        <p:spPr>
          <a:xfrm>
            <a:off x="610255" y="135018"/>
            <a:ext cx="1827489" cy="52076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32"/>
        <p:cNvGrpSpPr/>
        <p:nvPr/>
      </p:nvGrpSpPr>
      <p:grpSpPr>
        <a:xfrm>
          <a:off x="0" y="0"/>
          <a:ext cx="0" cy="0"/>
          <a:chOff x="0" y="0"/>
          <a:chExt cx="0" cy="0"/>
        </a:xfrm>
      </p:grpSpPr>
      <p:sp>
        <p:nvSpPr>
          <p:cNvPr id="33" name="Google Shape;33;p21"/>
          <p:cNvSpPr txBox="1">
            <a:spLocks noGrp="1"/>
          </p:cNvSpPr>
          <p:nvPr>
            <p:ph type="title"/>
          </p:nvPr>
        </p:nvSpPr>
        <p:spPr>
          <a:xfrm>
            <a:off x="838200" y="1823227"/>
            <a:ext cx="514247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Bai Jamjuree"/>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9pPr>
          </a:lstStyle>
          <a:p>
            <a:pPr marL="0" lvl="0" indent="0" algn="r" rtl="0">
              <a:spcBef>
                <a:spcPts val="0"/>
              </a:spcBef>
              <a:spcAft>
                <a:spcPts val="0"/>
              </a:spcAft>
              <a:buNone/>
            </a:pPr>
            <a:fld id="{00000000-1234-1234-1234-123412341234}" type="slidenum">
              <a:rPr lang="en-VN"/>
              <a:t>‹#›</a:t>
            </a:fld>
            <a:endParaRPr/>
          </a:p>
        </p:txBody>
      </p:sp>
      <p:pic>
        <p:nvPicPr>
          <p:cNvPr id="37" name="Google Shape;37;p21" descr="White text on a black background&#10;&#10;AI-generated content may be incorrect."/>
          <p:cNvPicPr preferRelativeResize="0"/>
          <p:nvPr/>
        </p:nvPicPr>
        <p:blipFill rotWithShape="1">
          <a:blip r:embed="rId3">
            <a:alphaModFix/>
          </a:blip>
          <a:srcRect/>
          <a:stretch/>
        </p:blipFill>
        <p:spPr>
          <a:xfrm>
            <a:off x="444136" y="333337"/>
            <a:ext cx="3301388" cy="94076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16"/>
          <p:cNvSpPr txBox="1">
            <a:spLocks noGrp="1"/>
          </p:cNvSpPr>
          <p:nvPr>
            <p:ph type="title"/>
          </p:nvPr>
        </p:nvSpPr>
        <p:spPr>
          <a:xfrm>
            <a:off x="839788" y="715818"/>
            <a:ext cx="10515600" cy="9748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53898"/>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153898"/>
              </a:buClr>
              <a:buSzPts val="2400"/>
              <a:buNone/>
              <a:defRPr sz="2400" b="1"/>
            </a:lvl1pPr>
            <a:lvl2pPr marL="914400" lvl="1" indent="-228600" algn="l">
              <a:lnSpc>
                <a:spcPct val="90000"/>
              </a:lnSpc>
              <a:spcBef>
                <a:spcPts val="500"/>
              </a:spcBef>
              <a:spcAft>
                <a:spcPts val="0"/>
              </a:spcAft>
              <a:buClr>
                <a:srgbClr val="153898"/>
              </a:buClr>
              <a:buSzPts val="2000"/>
              <a:buNone/>
              <a:defRPr sz="2000" b="1"/>
            </a:lvl2pPr>
            <a:lvl3pPr marL="1371600" lvl="2" indent="-228600" algn="l">
              <a:lnSpc>
                <a:spcPct val="90000"/>
              </a:lnSpc>
              <a:spcBef>
                <a:spcPts val="500"/>
              </a:spcBef>
              <a:spcAft>
                <a:spcPts val="0"/>
              </a:spcAft>
              <a:buClr>
                <a:srgbClr val="153898"/>
              </a:buClr>
              <a:buSzPts val="1800"/>
              <a:buNone/>
              <a:defRPr sz="1800" b="1"/>
            </a:lvl3pPr>
            <a:lvl4pPr marL="1828800" lvl="3" indent="-228600" algn="l">
              <a:lnSpc>
                <a:spcPct val="90000"/>
              </a:lnSpc>
              <a:spcBef>
                <a:spcPts val="500"/>
              </a:spcBef>
              <a:spcAft>
                <a:spcPts val="0"/>
              </a:spcAft>
              <a:buClr>
                <a:srgbClr val="153898"/>
              </a:buClr>
              <a:buSzPts val="1600"/>
              <a:buNone/>
              <a:defRPr sz="1600" b="1"/>
            </a:lvl4pPr>
            <a:lvl5pPr marL="2286000" lvl="4" indent="-228600" algn="l">
              <a:lnSpc>
                <a:spcPct val="90000"/>
              </a:lnSpc>
              <a:spcBef>
                <a:spcPts val="500"/>
              </a:spcBef>
              <a:spcAft>
                <a:spcPts val="0"/>
              </a:spcAft>
              <a:buClr>
                <a:srgbClr val="153898"/>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6"/>
          <p:cNvSpPr txBox="1">
            <a:spLocks noGrp="1"/>
          </p:cNvSpPr>
          <p:nvPr>
            <p:ph type="body" idx="2"/>
          </p:nvPr>
        </p:nvSpPr>
        <p:spPr>
          <a:xfrm>
            <a:off x="839788" y="2505075"/>
            <a:ext cx="5157787" cy="32902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53898"/>
              </a:buClr>
              <a:buSzPts val="1800"/>
              <a:buChar char="•"/>
              <a:defRPr/>
            </a:lvl1pPr>
            <a:lvl2pPr marL="914400" lvl="1" indent="-342900" algn="l">
              <a:lnSpc>
                <a:spcPct val="90000"/>
              </a:lnSpc>
              <a:spcBef>
                <a:spcPts val="500"/>
              </a:spcBef>
              <a:spcAft>
                <a:spcPts val="0"/>
              </a:spcAft>
              <a:buClr>
                <a:srgbClr val="153898"/>
              </a:buClr>
              <a:buSzPts val="1800"/>
              <a:buChar char="•"/>
              <a:defRPr/>
            </a:lvl2pPr>
            <a:lvl3pPr marL="1371600" lvl="2" indent="-342900" algn="l">
              <a:lnSpc>
                <a:spcPct val="90000"/>
              </a:lnSpc>
              <a:spcBef>
                <a:spcPts val="500"/>
              </a:spcBef>
              <a:spcAft>
                <a:spcPts val="0"/>
              </a:spcAft>
              <a:buClr>
                <a:srgbClr val="153898"/>
              </a:buClr>
              <a:buSzPts val="1800"/>
              <a:buChar char="•"/>
              <a:defRPr/>
            </a:lvl3pPr>
            <a:lvl4pPr marL="1828800" lvl="3" indent="-342900" algn="l">
              <a:lnSpc>
                <a:spcPct val="90000"/>
              </a:lnSpc>
              <a:spcBef>
                <a:spcPts val="500"/>
              </a:spcBef>
              <a:spcAft>
                <a:spcPts val="0"/>
              </a:spcAft>
              <a:buClr>
                <a:srgbClr val="153898"/>
              </a:buClr>
              <a:buSzPts val="1800"/>
              <a:buChar char="•"/>
              <a:defRPr/>
            </a:lvl4pPr>
            <a:lvl5pPr marL="2286000" lvl="4" indent="-342900" algn="l">
              <a:lnSpc>
                <a:spcPct val="90000"/>
              </a:lnSpc>
              <a:spcBef>
                <a:spcPts val="500"/>
              </a:spcBef>
              <a:spcAft>
                <a:spcPts val="0"/>
              </a:spcAft>
              <a:buClr>
                <a:srgbClr val="15389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153898"/>
              </a:buClr>
              <a:buSzPts val="2400"/>
              <a:buNone/>
              <a:defRPr sz="2400" b="1"/>
            </a:lvl1pPr>
            <a:lvl2pPr marL="914400" lvl="1" indent="-228600" algn="l">
              <a:lnSpc>
                <a:spcPct val="90000"/>
              </a:lnSpc>
              <a:spcBef>
                <a:spcPts val="500"/>
              </a:spcBef>
              <a:spcAft>
                <a:spcPts val="0"/>
              </a:spcAft>
              <a:buClr>
                <a:srgbClr val="153898"/>
              </a:buClr>
              <a:buSzPts val="2000"/>
              <a:buNone/>
              <a:defRPr sz="2000" b="1"/>
            </a:lvl2pPr>
            <a:lvl3pPr marL="1371600" lvl="2" indent="-228600" algn="l">
              <a:lnSpc>
                <a:spcPct val="90000"/>
              </a:lnSpc>
              <a:spcBef>
                <a:spcPts val="500"/>
              </a:spcBef>
              <a:spcAft>
                <a:spcPts val="0"/>
              </a:spcAft>
              <a:buClr>
                <a:srgbClr val="153898"/>
              </a:buClr>
              <a:buSzPts val="1800"/>
              <a:buNone/>
              <a:defRPr sz="1800" b="1"/>
            </a:lvl3pPr>
            <a:lvl4pPr marL="1828800" lvl="3" indent="-228600" algn="l">
              <a:lnSpc>
                <a:spcPct val="90000"/>
              </a:lnSpc>
              <a:spcBef>
                <a:spcPts val="500"/>
              </a:spcBef>
              <a:spcAft>
                <a:spcPts val="0"/>
              </a:spcAft>
              <a:buClr>
                <a:srgbClr val="153898"/>
              </a:buClr>
              <a:buSzPts val="1600"/>
              <a:buNone/>
              <a:defRPr sz="1600" b="1"/>
            </a:lvl4pPr>
            <a:lvl5pPr marL="2286000" lvl="4" indent="-228600" algn="l">
              <a:lnSpc>
                <a:spcPct val="90000"/>
              </a:lnSpc>
              <a:spcBef>
                <a:spcPts val="500"/>
              </a:spcBef>
              <a:spcAft>
                <a:spcPts val="0"/>
              </a:spcAft>
              <a:buClr>
                <a:srgbClr val="153898"/>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6"/>
          <p:cNvSpPr txBox="1">
            <a:spLocks noGrp="1"/>
          </p:cNvSpPr>
          <p:nvPr>
            <p:ph type="body" idx="4"/>
          </p:nvPr>
        </p:nvSpPr>
        <p:spPr>
          <a:xfrm>
            <a:off x="6172200" y="2505075"/>
            <a:ext cx="5183188" cy="32902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53898"/>
              </a:buClr>
              <a:buSzPts val="1800"/>
              <a:buChar char="•"/>
              <a:defRPr/>
            </a:lvl1pPr>
            <a:lvl2pPr marL="914400" lvl="1" indent="-342900" algn="l">
              <a:lnSpc>
                <a:spcPct val="90000"/>
              </a:lnSpc>
              <a:spcBef>
                <a:spcPts val="500"/>
              </a:spcBef>
              <a:spcAft>
                <a:spcPts val="0"/>
              </a:spcAft>
              <a:buClr>
                <a:srgbClr val="153898"/>
              </a:buClr>
              <a:buSzPts val="1800"/>
              <a:buChar char="•"/>
              <a:defRPr/>
            </a:lvl2pPr>
            <a:lvl3pPr marL="1371600" lvl="2" indent="-342900" algn="l">
              <a:lnSpc>
                <a:spcPct val="90000"/>
              </a:lnSpc>
              <a:spcBef>
                <a:spcPts val="500"/>
              </a:spcBef>
              <a:spcAft>
                <a:spcPts val="0"/>
              </a:spcAft>
              <a:buClr>
                <a:srgbClr val="153898"/>
              </a:buClr>
              <a:buSzPts val="1800"/>
              <a:buChar char="•"/>
              <a:defRPr/>
            </a:lvl3pPr>
            <a:lvl4pPr marL="1828800" lvl="3" indent="-342900" algn="l">
              <a:lnSpc>
                <a:spcPct val="90000"/>
              </a:lnSpc>
              <a:spcBef>
                <a:spcPts val="500"/>
              </a:spcBef>
              <a:spcAft>
                <a:spcPts val="0"/>
              </a:spcAft>
              <a:buClr>
                <a:srgbClr val="153898"/>
              </a:buClr>
              <a:buSzPts val="1800"/>
              <a:buChar char="•"/>
              <a:defRPr/>
            </a:lvl4pPr>
            <a:lvl5pPr marL="2286000" lvl="4" indent="-342900" algn="l">
              <a:lnSpc>
                <a:spcPct val="90000"/>
              </a:lnSpc>
              <a:spcBef>
                <a:spcPts val="500"/>
              </a:spcBef>
              <a:spcAft>
                <a:spcPts val="0"/>
              </a:spcAft>
              <a:buClr>
                <a:srgbClr val="15389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9pPr>
          </a:lstStyle>
          <a:p>
            <a:pPr marL="0" lvl="0" indent="0" algn="r" rtl="0">
              <a:spcBef>
                <a:spcPts val="0"/>
              </a:spcBef>
              <a:spcAft>
                <a:spcPts val="0"/>
              </a:spcAft>
              <a:buNone/>
            </a:pPr>
            <a:fld id="{00000000-1234-1234-1234-123412341234}" type="slidenum">
              <a:rPr lang="en-VN"/>
              <a:t>‹#›</a:t>
            </a:fld>
            <a:endParaRPr/>
          </a:p>
        </p:txBody>
      </p:sp>
      <p:pic>
        <p:nvPicPr>
          <p:cNvPr id="47" name="Google Shape;47;p16"/>
          <p:cNvPicPr preferRelativeResize="0"/>
          <p:nvPr/>
        </p:nvPicPr>
        <p:blipFill rotWithShape="1">
          <a:blip r:embed="rId3">
            <a:alphaModFix/>
          </a:blip>
          <a:srcRect/>
          <a:stretch/>
        </p:blipFill>
        <p:spPr>
          <a:xfrm rot="10800000" flipH="1">
            <a:off x="7766095" y="614191"/>
            <a:ext cx="3587705" cy="24396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13"/>
          <p:cNvSpPr txBox="1">
            <a:spLocks noGrp="1"/>
          </p:cNvSpPr>
          <p:nvPr>
            <p:ph type="title"/>
          </p:nvPr>
        </p:nvSpPr>
        <p:spPr>
          <a:xfrm>
            <a:off x="831850" y="1215464"/>
            <a:ext cx="10515600" cy="261302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153898"/>
              </a:buClr>
              <a:buSzPts val="5600"/>
              <a:buFont typeface="Bai Jamjuree"/>
              <a:buNone/>
              <a:defRPr sz="5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3"/>
          <p:cNvSpPr txBox="1">
            <a:spLocks noGrp="1"/>
          </p:cNvSpPr>
          <p:nvPr>
            <p:ph type="body" idx="1"/>
          </p:nvPr>
        </p:nvSpPr>
        <p:spPr>
          <a:xfrm>
            <a:off x="831850" y="3872764"/>
            <a:ext cx="10515600" cy="176977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53898"/>
              </a:buClr>
              <a:buSzPts val="2400"/>
              <a:buNone/>
              <a:defRPr sz="2400">
                <a:solidFill>
                  <a:srgbClr val="153898"/>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9pPr>
          </a:lstStyle>
          <a:p>
            <a:pPr marL="0" lvl="0" indent="0" algn="r" rtl="0">
              <a:spcBef>
                <a:spcPts val="0"/>
              </a:spcBef>
              <a:spcAft>
                <a:spcPts val="0"/>
              </a:spcAft>
              <a:buNone/>
            </a:pPr>
            <a:fld id="{00000000-1234-1234-1234-123412341234}" type="slidenum">
              <a:rPr lang="en-VN"/>
              <a:t>‹#›</a:t>
            </a:fld>
            <a:endParaRPr/>
          </a:p>
        </p:txBody>
      </p:sp>
      <p:pic>
        <p:nvPicPr>
          <p:cNvPr id="54" name="Google Shape;54;p13" descr="Blue text on a black background&#10;&#10;AI-generated content may be incorrect."/>
          <p:cNvPicPr preferRelativeResize="0"/>
          <p:nvPr/>
        </p:nvPicPr>
        <p:blipFill rotWithShape="1">
          <a:blip r:embed="rId3">
            <a:alphaModFix/>
          </a:blip>
          <a:srcRect/>
          <a:stretch/>
        </p:blipFill>
        <p:spPr>
          <a:xfrm>
            <a:off x="387927" y="214055"/>
            <a:ext cx="2295619" cy="654163"/>
          </a:xfrm>
          <a:prstGeom prst="rect">
            <a:avLst/>
          </a:prstGeom>
          <a:noFill/>
          <a:ln>
            <a:noFill/>
          </a:ln>
        </p:spPr>
      </p:pic>
      <p:pic>
        <p:nvPicPr>
          <p:cNvPr id="55" name="Google Shape;55;p13"/>
          <p:cNvPicPr preferRelativeResize="0"/>
          <p:nvPr/>
        </p:nvPicPr>
        <p:blipFill rotWithShape="1">
          <a:blip r:embed="rId4">
            <a:alphaModFix/>
          </a:blip>
          <a:srcRect/>
          <a:stretch/>
        </p:blipFill>
        <p:spPr>
          <a:xfrm rot="10800000" flipH="1">
            <a:off x="7766095" y="614191"/>
            <a:ext cx="3587705" cy="24396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838200" y="1047605"/>
            <a:ext cx="10515600" cy="64308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153898"/>
              </a:buClr>
              <a:buSzPts val="3200"/>
              <a:buFont typeface="Bai Jamjure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4"/>
          <p:cNvSpPr txBox="1">
            <a:spLocks noGrp="1"/>
          </p:cNvSpPr>
          <p:nvPr>
            <p:ph type="body" idx="1"/>
          </p:nvPr>
        </p:nvSpPr>
        <p:spPr>
          <a:xfrm>
            <a:off x="838200" y="1825625"/>
            <a:ext cx="10515600" cy="398477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53898"/>
              </a:buClr>
              <a:buSzPts val="1800"/>
              <a:buChar char="•"/>
              <a:defRPr/>
            </a:lvl1pPr>
            <a:lvl2pPr marL="914400" lvl="1" indent="-342900" algn="l">
              <a:lnSpc>
                <a:spcPct val="90000"/>
              </a:lnSpc>
              <a:spcBef>
                <a:spcPts val="500"/>
              </a:spcBef>
              <a:spcAft>
                <a:spcPts val="0"/>
              </a:spcAft>
              <a:buClr>
                <a:srgbClr val="153898"/>
              </a:buClr>
              <a:buSzPts val="1800"/>
              <a:buChar char="•"/>
              <a:defRPr/>
            </a:lvl2pPr>
            <a:lvl3pPr marL="1371600" lvl="2" indent="-342900" algn="l">
              <a:lnSpc>
                <a:spcPct val="90000"/>
              </a:lnSpc>
              <a:spcBef>
                <a:spcPts val="500"/>
              </a:spcBef>
              <a:spcAft>
                <a:spcPts val="0"/>
              </a:spcAft>
              <a:buClr>
                <a:srgbClr val="153898"/>
              </a:buClr>
              <a:buSzPts val="1800"/>
              <a:buChar char="•"/>
              <a:defRPr/>
            </a:lvl3pPr>
            <a:lvl4pPr marL="1828800" lvl="3" indent="-342900" algn="l">
              <a:lnSpc>
                <a:spcPct val="90000"/>
              </a:lnSpc>
              <a:spcBef>
                <a:spcPts val="500"/>
              </a:spcBef>
              <a:spcAft>
                <a:spcPts val="0"/>
              </a:spcAft>
              <a:buClr>
                <a:srgbClr val="153898"/>
              </a:buClr>
              <a:buSzPts val="1800"/>
              <a:buChar char="•"/>
              <a:defRPr/>
            </a:lvl4pPr>
            <a:lvl5pPr marL="2286000" lvl="4" indent="-342900" algn="l">
              <a:lnSpc>
                <a:spcPct val="90000"/>
              </a:lnSpc>
              <a:spcBef>
                <a:spcPts val="500"/>
              </a:spcBef>
              <a:spcAft>
                <a:spcPts val="0"/>
              </a:spcAft>
              <a:buClr>
                <a:srgbClr val="15389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9pPr>
          </a:lstStyle>
          <a:p>
            <a:pPr marL="0" lvl="0" indent="0" algn="r" rtl="0">
              <a:spcBef>
                <a:spcPts val="0"/>
              </a:spcBef>
              <a:spcAft>
                <a:spcPts val="0"/>
              </a:spcAft>
              <a:buNone/>
            </a:pPr>
            <a:fld id="{00000000-1234-1234-1234-123412341234}" type="slidenum">
              <a:rPr lang="en-VN"/>
              <a:t>‹#›</a:t>
            </a:fld>
            <a:endParaRPr/>
          </a:p>
        </p:txBody>
      </p:sp>
      <p:pic>
        <p:nvPicPr>
          <p:cNvPr id="62" name="Google Shape;62;p14"/>
          <p:cNvPicPr preferRelativeResize="0"/>
          <p:nvPr/>
        </p:nvPicPr>
        <p:blipFill rotWithShape="1">
          <a:blip r:embed="rId3">
            <a:alphaModFix/>
          </a:blip>
          <a:srcRect/>
          <a:stretch/>
        </p:blipFill>
        <p:spPr>
          <a:xfrm rot="10800000" flipH="1">
            <a:off x="7766095" y="614191"/>
            <a:ext cx="3587705" cy="243964"/>
          </a:xfrm>
          <a:prstGeom prst="rect">
            <a:avLst/>
          </a:prstGeom>
          <a:noFill/>
          <a:ln>
            <a:noFill/>
          </a:ln>
        </p:spPr>
      </p:pic>
      <p:pic>
        <p:nvPicPr>
          <p:cNvPr id="63" name="Google Shape;63;p14" descr="Blue text on a black background&#10;&#10;AI-generated content may be incorrect."/>
          <p:cNvPicPr preferRelativeResize="0"/>
          <p:nvPr/>
        </p:nvPicPr>
        <p:blipFill rotWithShape="1">
          <a:blip r:embed="rId4">
            <a:alphaModFix/>
          </a:blip>
          <a:srcRect/>
          <a:stretch/>
        </p:blipFill>
        <p:spPr>
          <a:xfrm>
            <a:off x="387927" y="214055"/>
            <a:ext cx="2295619" cy="65416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9pPr>
          </a:lstStyle>
          <a:p>
            <a:pPr marL="0" lvl="0" indent="0" algn="r" rtl="0">
              <a:spcBef>
                <a:spcPts val="0"/>
              </a:spcBef>
              <a:spcAft>
                <a:spcPts val="0"/>
              </a:spcAft>
              <a:buNone/>
            </a:pPr>
            <a:fld id="{00000000-1234-1234-1234-123412341234}" type="slidenum">
              <a:rPr lang="en-V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53898"/>
              </a:buClr>
              <a:buSzPts val="3200"/>
              <a:buFont typeface="Bai Jamjure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153898"/>
              </a:buClr>
              <a:buSzPts val="3200"/>
              <a:buChar char="•"/>
              <a:defRPr sz="3200"/>
            </a:lvl1pPr>
            <a:lvl2pPr marL="914400" lvl="1" indent="-406400" algn="l">
              <a:lnSpc>
                <a:spcPct val="90000"/>
              </a:lnSpc>
              <a:spcBef>
                <a:spcPts val="500"/>
              </a:spcBef>
              <a:spcAft>
                <a:spcPts val="0"/>
              </a:spcAft>
              <a:buClr>
                <a:srgbClr val="153898"/>
              </a:buClr>
              <a:buSzPts val="2800"/>
              <a:buChar char="•"/>
              <a:defRPr sz="2800"/>
            </a:lvl2pPr>
            <a:lvl3pPr marL="1371600" lvl="2" indent="-381000" algn="l">
              <a:lnSpc>
                <a:spcPct val="90000"/>
              </a:lnSpc>
              <a:spcBef>
                <a:spcPts val="500"/>
              </a:spcBef>
              <a:spcAft>
                <a:spcPts val="0"/>
              </a:spcAft>
              <a:buClr>
                <a:srgbClr val="153898"/>
              </a:buClr>
              <a:buSzPts val="2400"/>
              <a:buChar char="•"/>
              <a:defRPr sz="2400"/>
            </a:lvl3pPr>
            <a:lvl4pPr marL="1828800" lvl="3" indent="-355600" algn="l">
              <a:lnSpc>
                <a:spcPct val="90000"/>
              </a:lnSpc>
              <a:spcBef>
                <a:spcPts val="500"/>
              </a:spcBef>
              <a:spcAft>
                <a:spcPts val="0"/>
              </a:spcAft>
              <a:buClr>
                <a:srgbClr val="153898"/>
              </a:buClr>
              <a:buSzPts val="2000"/>
              <a:buChar char="•"/>
              <a:defRPr sz="2000"/>
            </a:lvl4pPr>
            <a:lvl5pPr marL="2286000" lvl="4" indent="-355600" algn="l">
              <a:lnSpc>
                <a:spcPct val="90000"/>
              </a:lnSpc>
              <a:spcBef>
                <a:spcPts val="500"/>
              </a:spcBef>
              <a:spcAft>
                <a:spcPts val="0"/>
              </a:spcAft>
              <a:buClr>
                <a:srgbClr val="153898"/>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1" name="Google Shape;71;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53898"/>
              </a:buClr>
              <a:buSzPts val="1600"/>
              <a:buNone/>
              <a:defRPr sz="1600"/>
            </a:lvl1pPr>
            <a:lvl2pPr marL="914400" lvl="1" indent="-228600" algn="l">
              <a:lnSpc>
                <a:spcPct val="90000"/>
              </a:lnSpc>
              <a:spcBef>
                <a:spcPts val="500"/>
              </a:spcBef>
              <a:spcAft>
                <a:spcPts val="0"/>
              </a:spcAft>
              <a:buClr>
                <a:srgbClr val="153898"/>
              </a:buClr>
              <a:buSzPts val="1400"/>
              <a:buNone/>
              <a:defRPr sz="1400"/>
            </a:lvl2pPr>
            <a:lvl3pPr marL="1371600" lvl="2" indent="-228600" algn="l">
              <a:lnSpc>
                <a:spcPct val="90000"/>
              </a:lnSpc>
              <a:spcBef>
                <a:spcPts val="500"/>
              </a:spcBef>
              <a:spcAft>
                <a:spcPts val="0"/>
              </a:spcAft>
              <a:buClr>
                <a:srgbClr val="153898"/>
              </a:buClr>
              <a:buSzPts val="1200"/>
              <a:buNone/>
              <a:defRPr sz="1200"/>
            </a:lvl3pPr>
            <a:lvl4pPr marL="1828800" lvl="3" indent="-228600" algn="l">
              <a:lnSpc>
                <a:spcPct val="90000"/>
              </a:lnSpc>
              <a:spcBef>
                <a:spcPts val="500"/>
              </a:spcBef>
              <a:spcAft>
                <a:spcPts val="0"/>
              </a:spcAft>
              <a:buClr>
                <a:srgbClr val="153898"/>
              </a:buClr>
              <a:buSzPts val="1000"/>
              <a:buNone/>
              <a:defRPr sz="1000"/>
            </a:lvl4pPr>
            <a:lvl5pPr marL="2286000" lvl="4" indent="-228600" algn="l">
              <a:lnSpc>
                <a:spcPct val="90000"/>
              </a:lnSpc>
              <a:spcBef>
                <a:spcPts val="500"/>
              </a:spcBef>
              <a:spcAft>
                <a:spcPts val="0"/>
              </a:spcAft>
              <a:buClr>
                <a:srgbClr val="153898"/>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9pPr>
          </a:lstStyle>
          <a:p>
            <a:pPr marL="0" lvl="0" indent="0" algn="r" rtl="0">
              <a:spcBef>
                <a:spcPts val="0"/>
              </a:spcBef>
              <a:spcAft>
                <a:spcPts val="0"/>
              </a:spcAft>
              <a:buNone/>
            </a:pPr>
            <a:fld id="{00000000-1234-1234-1234-123412341234}" type="slidenum">
              <a:rPr lang="en-VN"/>
              <a:t>‹#›</a:t>
            </a:fld>
            <a:endParaRPr/>
          </a:p>
        </p:txBody>
      </p:sp>
      <p:pic>
        <p:nvPicPr>
          <p:cNvPr id="75" name="Google Shape;75;p19"/>
          <p:cNvPicPr preferRelativeResize="0"/>
          <p:nvPr/>
        </p:nvPicPr>
        <p:blipFill rotWithShape="1">
          <a:blip r:embed="rId3">
            <a:alphaModFix/>
          </a:blip>
          <a:srcRect/>
          <a:stretch/>
        </p:blipFill>
        <p:spPr>
          <a:xfrm rot="10800000" flipH="1">
            <a:off x="7766095" y="614191"/>
            <a:ext cx="3587705" cy="24396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bg>
      <p:bgPr>
        <a:blipFill>
          <a:blip r:embed="rId2">
            <a:alphaModFix/>
          </a:blip>
          <a:stretch>
            <a:fillRect/>
          </a:stretch>
        </a:blipFill>
        <a:effectLst/>
      </p:bgPr>
    </p:bg>
    <p:spTree>
      <p:nvGrpSpPr>
        <p:cNvPr id="1" name="Shape 76"/>
        <p:cNvGrpSpPr/>
        <p:nvPr/>
      </p:nvGrpSpPr>
      <p:grpSpPr>
        <a:xfrm>
          <a:off x="0" y="0"/>
          <a:ext cx="0" cy="0"/>
          <a:chOff x="0" y="0"/>
          <a:chExt cx="0" cy="0"/>
        </a:xfrm>
      </p:grpSpPr>
      <p:sp>
        <p:nvSpPr>
          <p:cNvPr id="77" name="Google Shape;77;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53898"/>
              </a:buClr>
              <a:buSzPts val="3200"/>
              <a:buFont typeface="Bai Jamjuree"/>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a:spLocks noGrp="1"/>
          </p:cNvSpPr>
          <p:nvPr>
            <p:ph type="pic" idx="2"/>
          </p:nvPr>
        </p:nvSpPr>
        <p:spPr>
          <a:xfrm>
            <a:off x="5183188" y="987425"/>
            <a:ext cx="6172200" cy="4873625"/>
          </a:xfrm>
          <a:prstGeom prst="rect">
            <a:avLst/>
          </a:prstGeom>
          <a:noFill/>
          <a:ln>
            <a:noFill/>
          </a:ln>
        </p:spPr>
      </p:sp>
      <p:sp>
        <p:nvSpPr>
          <p:cNvPr id="79" name="Google Shape;79;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53898"/>
              </a:buClr>
              <a:buSzPts val="1600"/>
              <a:buNone/>
              <a:defRPr sz="1600"/>
            </a:lvl1pPr>
            <a:lvl2pPr marL="914400" lvl="1" indent="-228600" algn="l">
              <a:lnSpc>
                <a:spcPct val="90000"/>
              </a:lnSpc>
              <a:spcBef>
                <a:spcPts val="500"/>
              </a:spcBef>
              <a:spcAft>
                <a:spcPts val="0"/>
              </a:spcAft>
              <a:buClr>
                <a:srgbClr val="153898"/>
              </a:buClr>
              <a:buSzPts val="1400"/>
              <a:buNone/>
              <a:defRPr sz="1400"/>
            </a:lvl2pPr>
            <a:lvl3pPr marL="1371600" lvl="2" indent="-228600" algn="l">
              <a:lnSpc>
                <a:spcPct val="90000"/>
              </a:lnSpc>
              <a:spcBef>
                <a:spcPts val="500"/>
              </a:spcBef>
              <a:spcAft>
                <a:spcPts val="0"/>
              </a:spcAft>
              <a:buClr>
                <a:srgbClr val="153898"/>
              </a:buClr>
              <a:buSzPts val="1200"/>
              <a:buNone/>
              <a:defRPr sz="1200"/>
            </a:lvl3pPr>
            <a:lvl4pPr marL="1828800" lvl="3" indent="-228600" algn="l">
              <a:lnSpc>
                <a:spcPct val="90000"/>
              </a:lnSpc>
              <a:spcBef>
                <a:spcPts val="500"/>
              </a:spcBef>
              <a:spcAft>
                <a:spcPts val="0"/>
              </a:spcAft>
              <a:buClr>
                <a:srgbClr val="153898"/>
              </a:buClr>
              <a:buSzPts val="1000"/>
              <a:buNone/>
              <a:defRPr sz="1000"/>
            </a:lvl4pPr>
            <a:lvl5pPr marL="2286000" lvl="4" indent="-228600" algn="l">
              <a:lnSpc>
                <a:spcPct val="90000"/>
              </a:lnSpc>
              <a:spcBef>
                <a:spcPts val="500"/>
              </a:spcBef>
              <a:spcAft>
                <a:spcPts val="0"/>
              </a:spcAft>
              <a:buClr>
                <a:srgbClr val="153898"/>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0" name="Google Shape;8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9pPr>
          </a:lstStyle>
          <a:p>
            <a:pPr marL="0" lvl="0" indent="0" algn="r" rtl="0">
              <a:spcBef>
                <a:spcPts val="0"/>
              </a:spcBef>
              <a:spcAft>
                <a:spcPts val="0"/>
              </a:spcAft>
              <a:buNone/>
            </a:pPr>
            <a:fld id="{00000000-1234-1234-1234-123412341234}" type="slidenum">
              <a:rPr lang="en-VN"/>
              <a:t>‹#›</a:t>
            </a:fld>
            <a:endParaRPr/>
          </a:p>
        </p:txBody>
      </p:sp>
      <p:pic>
        <p:nvPicPr>
          <p:cNvPr id="83" name="Google Shape;83;p20"/>
          <p:cNvPicPr preferRelativeResize="0"/>
          <p:nvPr/>
        </p:nvPicPr>
        <p:blipFill rotWithShape="1">
          <a:blip r:embed="rId3">
            <a:alphaModFix/>
          </a:blip>
          <a:srcRect/>
          <a:stretch/>
        </p:blipFill>
        <p:spPr>
          <a:xfrm rot="10800000" flipH="1">
            <a:off x="7766095" y="614191"/>
            <a:ext cx="3587705" cy="24396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bg>
      <p:bgPr>
        <a:blipFill>
          <a:blip r:embed="rId2">
            <a:alphaModFix/>
          </a:blip>
          <a:stretch>
            <a:fillRect/>
          </a:stretch>
        </a:blipFill>
        <a:effectLst/>
      </p:bgPr>
    </p:bg>
    <p:spTree>
      <p:nvGrpSpPr>
        <p:cNvPr id="1" name="Shape 84"/>
        <p:cNvGrpSpPr/>
        <p:nvPr/>
      </p:nvGrpSpPr>
      <p:grpSpPr>
        <a:xfrm>
          <a:off x="0" y="0"/>
          <a:ext cx="0" cy="0"/>
          <a:chOff x="0" y="0"/>
          <a:chExt cx="0" cy="0"/>
        </a:xfrm>
      </p:grpSpPr>
      <p:sp>
        <p:nvSpPr>
          <p:cNvPr id="85" name="Google Shape;8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53898"/>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2"/>
          <p:cNvSpPr txBox="1">
            <a:spLocks noGrp="1"/>
          </p:cNvSpPr>
          <p:nvPr>
            <p:ph type="body" idx="1"/>
          </p:nvPr>
        </p:nvSpPr>
        <p:spPr>
          <a:xfrm rot="5400000">
            <a:off x="4074083" y="-1410258"/>
            <a:ext cx="4043834"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53898"/>
              </a:buClr>
              <a:buSzPts val="1800"/>
              <a:buChar char="•"/>
              <a:defRPr/>
            </a:lvl1pPr>
            <a:lvl2pPr marL="914400" lvl="1" indent="-342900" algn="l">
              <a:lnSpc>
                <a:spcPct val="90000"/>
              </a:lnSpc>
              <a:spcBef>
                <a:spcPts val="500"/>
              </a:spcBef>
              <a:spcAft>
                <a:spcPts val="0"/>
              </a:spcAft>
              <a:buClr>
                <a:srgbClr val="153898"/>
              </a:buClr>
              <a:buSzPts val="1800"/>
              <a:buChar char="•"/>
              <a:defRPr/>
            </a:lvl2pPr>
            <a:lvl3pPr marL="1371600" lvl="2" indent="-342900" algn="l">
              <a:lnSpc>
                <a:spcPct val="90000"/>
              </a:lnSpc>
              <a:spcBef>
                <a:spcPts val="500"/>
              </a:spcBef>
              <a:spcAft>
                <a:spcPts val="0"/>
              </a:spcAft>
              <a:buClr>
                <a:srgbClr val="153898"/>
              </a:buClr>
              <a:buSzPts val="1800"/>
              <a:buChar char="•"/>
              <a:defRPr/>
            </a:lvl3pPr>
            <a:lvl4pPr marL="1828800" lvl="3" indent="-342900" algn="l">
              <a:lnSpc>
                <a:spcPct val="90000"/>
              </a:lnSpc>
              <a:spcBef>
                <a:spcPts val="500"/>
              </a:spcBef>
              <a:spcAft>
                <a:spcPts val="0"/>
              </a:spcAft>
              <a:buClr>
                <a:srgbClr val="153898"/>
              </a:buClr>
              <a:buSzPts val="1800"/>
              <a:buChar char="•"/>
              <a:defRPr/>
            </a:lvl4pPr>
            <a:lvl5pPr marL="2286000" lvl="4" indent="-342900" algn="l">
              <a:lnSpc>
                <a:spcPct val="90000"/>
              </a:lnSpc>
              <a:spcBef>
                <a:spcPts val="500"/>
              </a:spcBef>
              <a:spcAft>
                <a:spcPts val="0"/>
              </a:spcAft>
              <a:buClr>
                <a:srgbClr val="15389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9pPr>
          </a:lstStyle>
          <a:p>
            <a:pPr marL="0" lvl="0" indent="0" algn="r" rtl="0">
              <a:spcBef>
                <a:spcPts val="0"/>
              </a:spcBef>
              <a:spcAft>
                <a:spcPts val="0"/>
              </a:spcAft>
              <a:buNone/>
            </a:pPr>
            <a:fld id="{00000000-1234-1234-1234-123412341234}" type="slidenum">
              <a:rPr lang="en-V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23"/>
          <p:cNvSpPr txBox="1">
            <a:spLocks noGrp="1"/>
          </p:cNvSpPr>
          <p:nvPr>
            <p:ph type="title"/>
          </p:nvPr>
        </p:nvSpPr>
        <p:spPr>
          <a:xfrm rot="5400000">
            <a:off x="7299540" y="1790485"/>
            <a:ext cx="5479621"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53898"/>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3"/>
          <p:cNvSpPr txBox="1">
            <a:spLocks noGrp="1"/>
          </p:cNvSpPr>
          <p:nvPr>
            <p:ph type="body" idx="1"/>
          </p:nvPr>
        </p:nvSpPr>
        <p:spPr>
          <a:xfrm rot="5400000">
            <a:off x="1965540" y="-762215"/>
            <a:ext cx="5479621"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53898"/>
              </a:buClr>
              <a:buSzPts val="1800"/>
              <a:buChar char="•"/>
              <a:defRPr/>
            </a:lvl1pPr>
            <a:lvl2pPr marL="914400" lvl="1" indent="-342900" algn="l">
              <a:lnSpc>
                <a:spcPct val="90000"/>
              </a:lnSpc>
              <a:spcBef>
                <a:spcPts val="500"/>
              </a:spcBef>
              <a:spcAft>
                <a:spcPts val="0"/>
              </a:spcAft>
              <a:buClr>
                <a:srgbClr val="153898"/>
              </a:buClr>
              <a:buSzPts val="1800"/>
              <a:buChar char="•"/>
              <a:defRPr/>
            </a:lvl2pPr>
            <a:lvl3pPr marL="1371600" lvl="2" indent="-342900" algn="l">
              <a:lnSpc>
                <a:spcPct val="90000"/>
              </a:lnSpc>
              <a:spcBef>
                <a:spcPts val="500"/>
              </a:spcBef>
              <a:spcAft>
                <a:spcPts val="0"/>
              </a:spcAft>
              <a:buClr>
                <a:srgbClr val="153898"/>
              </a:buClr>
              <a:buSzPts val="1800"/>
              <a:buChar char="•"/>
              <a:defRPr/>
            </a:lvl3pPr>
            <a:lvl4pPr marL="1828800" lvl="3" indent="-342900" algn="l">
              <a:lnSpc>
                <a:spcPct val="90000"/>
              </a:lnSpc>
              <a:spcBef>
                <a:spcPts val="500"/>
              </a:spcBef>
              <a:spcAft>
                <a:spcPts val="0"/>
              </a:spcAft>
              <a:buClr>
                <a:srgbClr val="153898"/>
              </a:buClr>
              <a:buSzPts val="1800"/>
              <a:buChar char="•"/>
              <a:defRPr/>
            </a:lvl4pPr>
            <a:lvl5pPr marL="2286000" lvl="4" indent="-342900" algn="l">
              <a:lnSpc>
                <a:spcPct val="90000"/>
              </a:lnSpc>
              <a:spcBef>
                <a:spcPts val="500"/>
              </a:spcBef>
              <a:spcAft>
                <a:spcPts val="0"/>
              </a:spcAft>
              <a:buClr>
                <a:srgbClr val="15389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0" i="0">
                <a:latin typeface="Play"/>
                <a:ea typeface="Play"/>
                <a:cs typeface="Play"/>
                <a:sym typeface="Pla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Play"/>
                <a:ea typeface="Play"/>
                <a:cs typeface="Play"/>
                <a:sym typeface="Play"/>
              </a:defRPr>
            </a:lvl9pPr>
          </a:lstStyle>
          <a:p>
            <a:pPr marL="0" lvl="0" indent="0" algn="r" rtl="0">
              <a:spcBef>
                <a:spcPts val="0"/>
              </a:spcBef>
              <a:spcAft>
                <a:spcPts val="0"/>
              </a:spcAft>
              <a:buNone/>
            </a:pPr>
            <a:fld id="{00000000-1234-1234-1234-123412341234}" type="slidenum">
              <a:rPr lang="en-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53898"/>
              </a:buClr>
              <a:buSzPts val="4400"/>
              <a:buFont typeface="Bai Jamjuree"/>
              <a:buNone/>
              <a:defRPr sz="4400" b="1" i="0" u="none" strike="noStrike" cap="none">
                <a:solidFill>
                  <a:srgbClr val="153898"/>
                </a:solidFill>
                <a:latin typeface="Bai Jamjuree"/>
                <a:ea typeface="Bai Jamjuree"/>
                <a:cs typeface="Bai Jamjuree"/>
                <a:sym typeface="Bai Jamjure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153898"/>
              </a:buClr>
              <a:buSzPts val="2800"/>
              <a:buFont typeface="Arial"/>
              <a:buChar char="•"/>
              <a:defRPr sz="2800" b="0" i="0" u="none" strike="noStrike" cap="none">
                <a:solidFill>
                  <a:srgbClr val="153898"/>
                </a:solidFill>
                <a:latin typeface="Play"/>
                <a:ea typeface="Play"/>
                <a:cs typeface="Play"/>
                <a:sym typeface="Play"/>
              </a:defRPr>
            </a:lvl1pPr>
            <a:lvl2pPr marL="914400" marR="0" lvl="1" indent="-381000" algn="l" rtl="0">
              <a:lnSpc>
                <a:spcPct val="90000"/>
              </a:lnSpc>
              <a:spcBef>
                <a:spcPts val="500"/>
              </a:spcBef>
              <a:spcAft>
                <a:spcPts val="0"/>
              </a:spcAft>
              <a:buClr>
                <a:srgbClr val="153898"/>
              </a:buClr>
              <a:buSzPts val="2400"/>
              <a:buFont typeface="Arial"/>
              <a:buChar char="•"/>
              <a:defRPr sz="2400" b="0" i="0" u="none" strike="noStrike" cap="none">
                <a:solidFill>
                  <a:srgbClr val="153898"/>
                </a:solidFill>
                <a:latin typeface="Play"/>
                <a:ea typeface="Play"/>
                <a:cs typeface="Play"/>
                <a:sym typeface="Play"/>
              </a:defRPr>
            </a:lvl2pPr>
            <a:lvl3pPr marL="1371600" marR="0" lvl="2" indent="-355600" algn="l" rtl="0">
              <a:lnSpc>
                <a:spcPct val="90000"/>
              </a:lnSpc>
              <a:spcBef>
                <a:spcPts val="500"/>
              </a:spcBef>
              <a:spcAft>
                <a:spcPts val="0"/>
              </a:spcAft>
              <a:buClr>
                <a:srgbClr val="153898"/>
              </a:buClr>
              <a:buSzPts val="2000"/>
              <a:buFont typeface="Arial"/>
              <a:buChar char="•"/>
              <a:defRPr sz="2000" b="0" i="0" u="none" strike="noStrike" cap="none">
                <a:solidFill>
                  <a:srgbClr val="153898"/>
                </a:solidFill>
                <a:latin typeface="Play"/>
                <a:ea typeface="Play"/>
                <a:cs typeface="Play"/>
                <a:sym typeface="Play"/>
              </a:defRPr>
            </a:lvl3pPr>
            <a:lvl4pPr marL="1828800" marR="0" lvl="3" indent="-342900" algn="l" rtl="0">
              <a:lnSpc>
                <a:spcPct val="90000"/>
              </a:lnSpc>
              <a:spcBef>
                <a:spcPts val="500"/>
              </a:spcBef>
              <a:spcAft>
                <a:spcPts val="0"/>
              </a:spcAft>
              <a:buClr>
                <a:srgbClr val="153898"/>
              </a:buClr>
              <a:buSzPts val="1800"/>
              <a:buFont typeface="Arial"/>
              <a:buChar char="•"/>
              <a:defRPr sz="1800" b="0" i="0" u="none" strike="noStrike" cap="none">
                <a:solidFill>
                  <a:srgbClr val="153898"/>
                </a:solidFill>
                <a:latin typeface="Play"/>
                <a:ea typeface="Play"/>
                <a:cs typeface="Play"/>
                <a:sym typeface="Play"/>
              </a:defRPr>
            </a:lvl4pPr>
            <a:lvl5pPr marL="2286000" marR="0" lvl="4" indent="-342900" algn="l" rtl="0">
              <a:lnSpc>
                <a:spcPct val="90000"/>
              </a:lnSpc>
              <a:spcBef>
                <a:spcPts val="500"/>
              </a:spcBef>
              <a:spcAft>
                <a:spcPts val="0"/>
              </a:spcAft>
              <a:buClr>
                <a:srgbClr val="153898"/>
              </a:buClr>
              <a:buSzPts val="1800"/>
              <a:buFont typeface="Arial"/>
              <a:buChar char="•"/>
              <a:defRPr sz="1800" b="0" i="0" u="none" strike="noStrike" cap="none">
                <a:solidFill>
                  <a:srgbClr val="153898"/>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Bai Jamjuree Medium"/>
                <a:ea typeface="Bai Jamjuree Medium"/>
                <a:cs typeface="Bai Jamjuree Medium"/>
                <a:sym typeface="Bai Jamjuree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Bai Jamjuree Medium"/>
                <a:ea typeface="Bai Jamjuree Medium"/>
                <a:cs typeface="Bai Jamjuree Medium"/>
                <a:sym typeface="Bai Jamjuree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Bai Jamjuree Medium"/>
                <a:ea typeface="Bai Jamjuree Medium"/>
                <a:cs typeface="Bai Jamjuree Medium"/>
                <a:sym typeface="Bai Jamjuree Medium"/>
              </a:defRPr>
            </a:lvl9pPr>
          </a:lstStyle>
          <a:p>
            <a:pPr marL="0" lvl="0" indent="0" algn="r" rtl="0">
              <a:spcBef>
                <a:spcPts val="0"/>
              </a:spcBef>
              <a:spcAft>
                <a:spcPts val="0"/>
              </a:spcAft>
              <a:buNone/>
            </a:pPr>
            <a:fld id="{00000000-1234-1234-1234-123412341234}" type="slidenum">
              <a:rPr lang="en-V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1160525" y="1318400"/>
            <a:ext cx="10320600" cy="2387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Font typeface="Bai Jamjuree"/>
              <a:buNone/>
            </a:pPr>
            <a:r>
              <a:rPr lang="en-VN"/>
              <a:t>Retrieval-Augmented Question Answering for IT and AI Lecture Videos on YouTube </a:t>
            </a:r>
            <a:endParaRPr/>
          </a:p>
        </p:txBody>
      </p:sp>
      <p:sp>
        <p:nvSpPr>
          <p:cNvPr id="101" name="Google Shape;101;p1"/>
          <p:cNvSpPr txBox="1">
            <a:spLocks noGrp="1"/>
          </p:cNvSpPr>
          <p:nvPr>
            <p:ph type="subTitle" idx="1"/>
          </p:nvPr>
        </p:nvSpPr>
        <p:spPr>
          <a:xfrm>
            <a:off x="1506050" y="3466300"/>
            <a:ext cx="6364800" cy="165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400"/>
              <a:buNone/>
            </a:pPr>
            <a:r>
              <a:rPr lang="en-VN"/>
              <a:t>GV HƯỚNG DẪN: 	TS.ĐẶNG THỊ PHÚC</a:t>
            </a:r>
            <a:r>
              <a:rPr lang="en-VN" sz="3600" b="1">
                <a:solidFill>
                  <a:srgbClr val="FFFF00"/>
                </a:solidFill>
                <a:latin typeface="Arial"/>
                <a:ea typeface="Arial"/>
                <a:cs typeface="Arial"/>
                <a:sym typeface="Arial"/>
              </a:rPr>
              <a:t>  </a:t>
            </a:r>
            <a:endParaRPr sz="3600" b="1">
              <a:solidFill>
                <a:srgbClr val="FFFF00"/>
              </a:solidFill>
              <a:latin typeface="Arial"/>
              <a:ea typeface="Arial"/>
              <a:cs typeface="Arial"/>
              <a:sym typeface="Arial"/>
            </a:endParaRPr>
          </a:p>
          <a:p>
            <a:pPr marL="0" lvl="0" indent="0" algn="l" rtl="0">
              <a:lnSpc>
                <a:spcPct val="90000"/>
              </a:lnSpc>
              <a:spcBef>
                <a:spcPts val="0"/>
              </a:spcBef>
              <a:spcAft>
                <a:spcPts val="0"/>
              </a:spcAft>
              <a:buClr>
                <a:schemeClr val="lt1"/>
              </a:buClr>
              <a:buSzPts val="2400"/>
              <a:buNone/>
            </a:pPr>
            <a:endParaRPr sz="3600" b="1">
              <a:solidFill>
                <a:srgbClr val="FFFF00"/>
              </a:solidFill>
              <a:latin typeface="Arial"/>
              <a:ea typeface="Arial"/>
              <a:cs typeface="Arial"/>
              <a:sym typeface="Arial"/>
            </a:endParaRPr>
          </a:p>
          <a:p>
            <a:pPr marL="0" lvl="0" indent="0" algn="l" rtl="0">
              <a:lnSpc>
                <a:spcPct val="142222"/>
              </a:lnSpc>
              <a:spcBef>
                <a:spcPts val="0"/>
              </a:spcBef>
              <a:spcAft>
                <a:spcPts val="0"/>
              </a:spcAft>
              <a:buClr>
                <a:schemeClr val="dk1"/>
              </a:buClr>
              <a:buSzPts val="2400"/>
              <a:buFont typeface="Arial"/>
              <a:buNone/>
            </a:pPr>
            <a:endParaRPr/>
          </a:p>
        </p:txBody>
      </p:sp>
      <p:sp>
        <p:nvSpPr>
          <p:cNvPr id="102" name="Google Shape;102;p1"/>
          <p:cNvSpPr txBox="1"/>
          <p:nvPr/>
        </p:nvSpPr>
        <p:spPr>
          <a:xfrm>
            <a:off x="2823875" y="97400"/>
            <a:ext cx="7362300" cy="933000"/>
          </a:xfrm>
          <a:prstGeom prst="rect">
            <a:avLst/>
          </a:prstGeom>
          <a:noFill/>
          <a:ln>
            <a:noFill/>
          </a:ln>
        </p:spPr>
        <p:txBody>
          <a:bodyPr spcFirstLastPara="1" wrap="square" lIns="91425" tIns="91425" rIns="91425" bIns="91425" anchor="t" anchorCtr="0">
            <a:spAutoFit/>
          </a:bodyPr>
          <a:lstStyle/>
          <a:p>
            <a:pPr marL="0" marR="0" lvl="0" indent="0" algn="ctr" rtl="0">
              <a:lnSpc>
                <a:spcPct val="111392"/>
              </a:lnSpc>
              <a:spcBef>
                <a:spcPts val="0"/>
              </a:spcBef>
              <a:spcAft>
                <a:spcPts val="0"/>
              </a:spcAft>
              <a:buClr>
                <a:srgbClr val="000000"/>
              </a:buClr>
              <a:buSzPts val="2300"/>
              <a:buFont typeface="Arial"/>
              <a:buNone/>
            </a:pPr>
            <a:r>
              <a:rPr lang="en-VN" sz="2300" b="1" i="0" u="none" strike="noStrike" cap="none">
                <a:solidFill>
                  <a:schemeClr val="lt1"/>
                </a:solidFill>
                <a:latin typeface="Arial"/>
                <a:ea typeface="Arial"/>
                <a:cs typeface="Arial"/>
                <a:sym typeface="Arial"/>
              </a:rPr>
              <a:t>BỘ CÔNG THƯƠNG</a:t>
            </a:r>
            <a:endParaRPr sz="900" b="0" i="0" u="none" strike="noStrike" cap="none">
              <a:solidFill>
                <a:schemeClr val="lt1"/>
              </a:solidFill>
              <a:latin typeface="Arial"/>
              <a:ea typeface="Arial"/>
              <a:cs typeface="Arial"/>
              <a:sym typeface="Arial"/>
            </a:endParaRPr>
          </a:p>
          <a:p>
            <a:pPr marL="0" marR="0" lvl="0" indent="0" algn="ctr" rtl="0">
              <a:lnSpc>
                <a:spcPct val="111392"/>
              </a:lnSpc>
              <a:spcBef>
                <a:spcPts val="0"/>
              </a:spcBef>
              <a:spcAft>
                <a:spcPts val="0"/>
              </a:spcAft>
              <a:buClr>
                <a:srgbClr val="000000"/>
              </a:buClr>
              <a:buSzPts val="2300"/>
              <a:buFont typeface="Arial"/>
              <a:buNone/>
            </a:pPr>
            <a:r>
              <a:rPr lang="en-VN" sz="2300" b="1" i="0" u="none" strike="noStrike" cap="none">
                <a:solidFill>
                  <a:schemeClr val="lt1"/>
                </a:solidFill>
                <a:latin typeface="Arial"/>
                <a:ea typeface="Arial"/>
                <a:cs typeface="Arial"/>
                <a:sym typeface="Arial"/>
              </a:rPr>
              <a:t>ĐẠI HỌC CÔNG NGHIỆP THÀNH PHỐ HỒ CHÍ MINH</a:t>
            </a:r>
            <a:endParaRPr sz="900" b="0" i="0" u="none" strike="noStrike" cap="none">
              <a:solidFill>
                <a:schemeClr val="lt1"/>
              </a:solidFill>
              <a:latin typeface="Arial"/>
              <a:ea typeface="Arial"/>
              <a:cs typeface="Arial"/>
              <a:sym typeface="Arial"/>
            </a:endParaRPr>
          </a:p>
        </p:txBody>
      </p:sp>
      <p:sp>
        <p:nvSpPr>
          <p:cNvPr id="103" name="Google Shape;103;p1"/>
          <p:cNvSpPr txBox="1">
            <a:spLocks noGrp="1"/>
          </p:cNvSpPr>
          <p:nvPr>
            <p:ph type="subTitle" idx="1"/>
          </p:nvPr>
        </p:nvSpPr>
        <p:spPr>
          <a:xfrm>
            <a:off x="4321125" y="4468975"/>
            <a:ext cx="6364800" cy="1655700"/>
          </a:xfrm>
          <a:prstGeom prst="rect">
            <a:avLst/>
          </a:prstGeom>
          <a:noFill/>
          <a:ln>
            <a:noFill/>
          </a:ln>
        </p:spPr>
        <p:txBody>
          <a:bodyPr spcFirstLastPara="1" wrap="square" lIns="91425" tIns="45700" rIns="91425" bIns="45700" anchor="ctr" anchorCtr="0">
            <a:normAutofit fontScale="92500"/>
          </a:bodyPr>
          <a:lstStyle/>
          <a:p>
            <a:pPr marL="0" lvl="0" indent="0" algn="l" rtl="0">
              <a:lnSpc>
                <a:spcPct val="142222"/>
              </a:lnSpc>
              <a:spcBef>
                <a:spcPts val="0"/>
              </a:spcBef>
              <a:spcAft>
                <a:spcPts val="0"/>
              </a:spcAft>
              <a:buClr>
                <a:schemeClr val="dk1"/>
              </a:buClr>
              <a:buSzPct val="108108"/>
              <a:buFont typeface="Arial"/>
              <a:buNone/>
            </a:pPr>
            <a:r>
              <a:rPr lang="en-VN"/>
              <a:t>SV THỰC HIỆN:  </a:t>
            </a:r>
            <a:endParaRPr/>
          </a:p>
          <a:p>
            <a:pPr marL="1371600" lvl="0" indent="457200" algn="l" rtl="0">
              <a:lnSpc>
                <a:spcPct val="142222"/>
              </a:lnSpc>
              <a:spcBef>
                <a:spcPts val="0"/>
              </a:spcBef>
              <a:spcAft>
                <a:spcPts val="0"/>
              </a:spcAft>
              <a:buClr>
                <a:schemeClr val="dk1"/>
              </a:buClr>
              <a:buSzPct val="108108"/>
              <a:buFont typeface="Arial"/>
              <a:buNone/>
            </a:pPr>
            <a:r>
              <a:rPr lang="en-VN"/>
              <a:t>Nguyễn Thành Trung - 22696701</a:t>
            </a:r>
            <a:endParaRPr/>
          </a:p>
          <a:p>
            <a:pPr marL="0" lvl="0" indent="0" algn="l" rtl="0">
              <a:lnSpc>
                <a:spcPct val="142222"/>
              </a:lnSpc>
              <a:spcBef>
                <a:spcPts val="0"/>
              </a:spcBef>
              <a:spcAft>
                <a:spcPts val="0"/>
              </a:spcAft>
              <a:buClr>
                <a:schemeClr val="dk1"/>
              </a:buClr>
              <a:buSzPct val="108108"/>
              <a:buFont typeface="Arial"/>
              <a:buNone/>
            </a:pPr>
            <a:r>
              <a:rPr lang="en-VN"/>
              <a:t>		Thái Văn Trung - 22696241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141125" y="59053"/>
            <a:ext cx="10515600" cy="862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53898"/>
              </a:buClr>
              <a:buSzPts val="4400"/>
              <a:buFont typeface="Bai Jamjuree"/>
              <a:buNone/>
            </a:pPr>
            <a:r>
              <a:rPr lang="en-VN"/>
              <a:t>Pipeline </a:t>
            </a:r>
            <a:r>
              <a:rPr lang="en-VN" sz="1100" b="0">
                <a:solidFill>
                  <a:schemeClr val="dk1"/>
                </a:solidFill>
                <a:latin typeface="Arial"/>
                <a:ea typeface="Arial"/>
                <a:cs typeface="Arial"/>
                <a:sym typeface="Arial"/>
              </a:rPr>
              <a:t> </a:t>
            </a:r>
            <a:endParaRPr/>
          </a:p>
        </p:txBody>
      </p:sp>
      <p:pic>
        <p:nvPicPr>
          <p:cNvPr id="2" name="Picture 1">
            <a:extLst>
              <a:ext uri="{FF2B5EF4-FFF2-40B4-BE49-F238E27FC236}">
                <a16:creationId xmlns:a16="http://schemas.microsoft.com/office/drawing/2014/main" id="{DE25AC1C-C987-700C-0EA4-C50487BBCEB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7995" y="279052"/>
            <a:ext cx="4196009" cy="5594974"/>
          </a:xfrm>
          <a:prstGeom prst="rect">
            <a:avLst/>
          </a:prstGeom>
          <a:noFill/>
          <a:ln>
            <a:noFill/>
            <a:prstDash val="sysDot"/>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892713C-692B-19C2-1C78-A452B1BC9D92}"/>
              </a:ext>
            </a:extLst>
          </p:cNvPr>
          <p:cNvSpPr/>
          <p:nvPr/>
        </p:nvSpPr>
        <p:spPr>
          <a:xfrm>
            <a:off x="615393" y="1216305"/>
            <a:ext cx="1948069" cy="74543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solidFill>
                  <a:srgbClr val="FF0000"/>
                </a:solidFill>
              </a:rPr>
              <a:t>YouTube URL</a:t>
            </a:r>
          </a:p>
        </p:txBody>
      </p:sp>
      <p:cxnSp>
        <p:nvCxnSpPr>
          <p:cNvPr id="5" name="Straight Arrow Connector 4">
            <a:extLst>
              <a:ext uri="{FF2B5EF4-FFF2-40B4-BE49-F238E27FC236}">
                <a16:creationId xmlns:a16="http://schemas.microsoft.com/office/drawing/2014/main" id="{8DDC337E-7792-7C65-8861-1AA71C0FF2D4}"/>
              </a:ext>
            </a:extLst>
          </p:cNvPr>
          <p:cNvCxnSpPr>
            <a:cxnSpLocks/>
            <a:stCxn id="3" idx="3"/>
            <a:endCxn id="6" idx="1"/>
          </p:cNvCxnSpPr>
          <p:nvPr/>
        </p:nvCxnSpPr>
        <p:spPr>
          <a:xfrm>
            <a:off x="2563462" y="1589023"/>
            <a:ext cx="6394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B07124D6-8374-DA10-652A-13B9798EE916}"/>
              </a:ext>
            </a:extLst>
          </p:cNvPr>
          <p:cNvSpPr/>
          <p:nvPr/>
        </p:nvSpPr>
        <p:spPr>
          <a:xfrm>
            <a:off x="3202880" y="1216305"/>
            <a:ext cx="1948069" cy="745435"/>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solidFill>
                  <a:schemeClr val="tx1"/>
                </a:solidFill>
              </a:rPr>
              <a:t>Thu Thập meta data</a:t>
            </a:r>
          </a:p>
        </p:txBody>
      </p:sp>
      <p:pic>
        <p:nvPicPr>
          <p:cNvPr id="13" name="Picture 12">
            <a:extLst>
              <a:ext uri="{FF2B5EF4-FFF2-40B4-BE49-F238E27FC236}">
                <a16:creationId xmlns:a16="http://schemas.microsoft.com/office/drawing/2014/main" id="{86530CAB-A12F-04C5-71CB-F1A9A1F04479}"/>
              </a:ext>
            </a:extLst>
          </p:cNvPr>
          <p:cNvPicPr>
            <a:picLocks noChangeAspect="1"/>
          </p:cNvPicPr>
          <p:nvPr/>
        </p:nvPicPr>
        <p:blipFill>
          <a:blip r:embed="rId3"/>
          <a:stretch>
            <a:fillRect/>
          </a:stretch>
        </p:blipFill>
        <p:spPr>
          <a:xfrm>
            <a:off x="982917" y="2425693"/>
            <a:ext cx="3988077" cy="3219731"/>
          </a:xfrm>
          <a:prstGeom prst="rect">
            <a:avLst/>
          </a:prstGeom>
        </p:spPr>
      </p:pic>
      <p:pic>
        <p:nvPicPr>
          <p:cNvPr id="16" name="Picture 15">
            <a:extLst>
              <a:ext uri="{FF2B5EF4-FFF2-40B4-BE49-F238E27FC236}">
                <a16:creationId xmlns:a16="http://schemas.microsoft.com/office/drawing/2014/main" id="{65E5A24E-ABBD-4E8D-3EB3-49A1590EE72D}"/>
              </a:ext>
            </a:extLst>
          </p:cNvPr>
          <p:cNvPicPr>
            <a:picLocks noChangeAspect="1"/>
          </p:cNvPicPr>
          <p:nvPr/>
        </p:nvPicPr>
        <p:blipFill>
          <a:blip r:embed="rId4"/>
          <a:stretch>
            <a:fillRect/>
          </a:stretch>
        </p:blipFill>
        <p:spPr>
          <a:xfrm>
            <a:off x="7918391" y="1589023"/>
            <a:ext cx="2636748" cy="4237087"/>
          </a:xfrm>
          <a:prstGeom prst="rect">
            <a:avLst/>
          </a:prstGeom>
        </p:spPr>
      </p:pic>
      <p:sp>
        <p:nvSpPr>
          <p:cNvPr id="17" name="Arrow: Right 16">
            <a:extLst>
              <a:ext uri="{FF2B5EF4-FFF2-40B4-BE49-F238E27FC236}">
                <a16:creationId xmlns:a16="http://schemas.microsoft.com/office/drawing/2014/main" id="{B411209A-D5AB-F59F-8F49-83916466B7CB}"/>
              </a:ext>
            </a:extLst>
          </p:cNvPr>
          <p:cNvSpPr/>
          <p:nvPr/>
        </p:nvSpPr>
        <p:spPr>
          <a:xfrm>
            <a:off x="5679380" y="3707567"/>
            <a:ext cx="1411356" cy="655982"/>
          </a:xfrm>
          <a:prstGeom prst="rightArrow">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Title 2">
            <a:extLst>
              <a:ext uri="{FF2B5EF4-FFF2-40B4-BE49-F238E27FC236}">
                <a16:creationId xmlns:a16="http://schemas.microsoft.com/office/drawing/2014/main" id="{F1B2B746-5C52-A76D-2269-EF763FECCF27}"/>
              </a:ext>
            </a:extLst>
          </p:cNvPr>
          <p:cNvSpPr>
            <a:spLocks noGrp="1"/>
          </p:cNvSpPr>
          <p:nvPr>
            <p:ph type="title"/>
          </p:nvPr>
        </p:nvSpPr>
        <p:spPr>
          <a:xfrm>
            <a:off x="367748" y="-250559"/>
            <a:ext cx="10515600" cy="1325563"/>
          </a:xfrm>
        </p:spPr>
        <p:txBody>
          <a:bodyPr>
            <a:normAutofit/>
          </a:bodyPr>
          <a:lstStyle/>
          <a:p>
            <a:r>
              <a:rPr lang="vi-VN" sz="3200"/>
              <a:t>Thu Thập meta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E29822D-9942-7C09-D8F7-8BD6887D9770}"/>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06CA1CA-76E5-7BCD-F541-BFD3F973DDA6}"/>
              </a:ext>
            </a:extLst>
          </p:cNvPr>
          <p:cNvSpPr/>
          <p:nvPr/>
        </p:nvSpPr>
        <p:spPr>
          <a:xfrm>
            <a:off x="381000" y="2082249"/>
            <a:ext cx="1948069" cy="74543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solidFill>
                  <a:srgbClr val="FF0000"/>
                </a:solidFill>
              </a:rPr>
              <a:t>YouTube URL</a:t>
            </a:r>
          </a:p>
        </p:txBody>
      </p:sp>
      <p:cxnSp>
        <p:nvCxnSpPr>
          <p:cNvPr id="5" name="Straight Arrow Connector 4">
            <a:extLst>
              <a:ext uri="{FF2B5EF4-FFF2-40B4-BE49-F238E27FC236}">
                <a16:creationId xmlns:a16="http://schemas.microsoft.com/office/drawing/2014/main" id="{E59DE434-F5D5-5A03-092A-E8BE60F140E3}"/>
              </a:ext>
            </a:extLst>
          </p:cNvPr>
          <p:cNvCxnSpPr>
            <a:cxnSpLocks/>
            <a:stCxn id="3" idx="3"/>
            <a:endCxn id="6" idx="1"/>
          </p:cNvCxnSpPr>
          <p:nvPr/>
        </p:nvCxnSpPr>
        <p:spPr>
          <a:xfrm flipV="1">
            <a:off x="2329069" y="2445028"/>
            <a:ext cx="917713" cy="9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D79C6385-3001-3AA7-4CF7-8A239087DDE1}"/>
              </a:ext>
            </a:extLst>
          </p:cNvPr>
          <p:cNvSpPr/>
          <p:nvPr/>
        </p:nvSpPr>
        <p:spPr>
          <a:xfrm>
            <a:off x="3246782" y="2072310"/>
            <a:ext cx="1948069" cy="745435"/>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solidFill>
                  <a:schemeClr val="tx1"/>
                </a:solidFill>
              </a:rPr>
              <a:t>Thu Thập Phụ Đề</a:t>
            </a:r>
          </a:p>
        </p:txBody>
      </p:sp>
      <p:sp>
        <p:nvSpPr>
          <p:cNvPr id="8" name="Rectangle: Rounded Corners 7">
            <a:extLst>
              <a:ext uri="{FF2B5EF4-FFF2-40B4-BE49-F238E27FC236}">
                <a16:creationId xmlns:a16="http://schemas.microsoft.com/office/drawing/2014/main" id="{9288F9B2-C4C9-3A72-3944-D88D909FE766}"/>
              </a:ext>
            </a:extLst>
          </p:cNvPr>
          <p:cNvSpPr/>
          <p:nvPr/>
        </p:nvSpPr>
        <p:spPr>
          <a:xfrm>
            <a:off x="3197087" y="3056282"/>
            <a:ext cx="1948069" cy="745435"/>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solidFill>
                  <a:schemeClr val="tx1"/>
                </a:solidFill>
              </a:rPr>
              <a:t>Tải Audio</a:t>
            </a:r>
          </a:p>
        </p:txBody>
      </p:sp>
      <p:cxnSp>
        <p:nvCxnSpPr>
          <p:cNvPr id="9" name="Straight Arrow Connector 8">
            <a:extLst>
              <a:ext uri="{FF2B5EF4-FFF2-40B4-BE49-F238E27FC236}">
                <a16:creationId xmlns:a16="http://schemas.microsoft.com/office/drawing/2014/main" id="{5E81ADC2-3EB4-21EC-6702-43F437EC3103}"/>
              </a:ext>
            </a:extLst>
          </p:cNvPr>
          <p:cNvCxnSpPr>
            <a:cxnSpLocks/>
            <a:endCxn id="10" idx="1"/>
          </p:cNvCxnSpPr>
          <p:nvPr/>
        </p:nvCxnSpPr>
        <p:spPr>
          <a:xfrm flipV="1">
            <a:off x="5145156" y="3429000"/>
            <a:ext cx="51020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607EA97B-6A90-1DDA-1B36-7EA1AE056F15}"/>
              </a:ext>
            </a:extLst>
          </p:cNvPr>
          <p:cNvSpPr/>
          <p:nvPr/>
        </p:nvSpPr>
        <p:spPr>
          <a:xfrm>
            <a:off x="5655365" y="3056282"/>
            <a:ext cx="1948069" cy="745435"/>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solidFill>
                  <a:schemeClr val="tx1"/>
                </a:solidFill>
              </a:rPr>
              <a:t>whisper</a:t>
            </a:r>
          </a:p>
        </p:txBody>
      </p:sp>
      <p:cxnSp>
        <p:nvCxnSpPr>
          <p:cNvPr id="16" name="Connector: Elbow 15">
            <a:extLst>
              <a:ext uri="{FF2B5EF4-FFF2-40B4-BE49-F238E27FC236}">
                <a16:creationId xmlns:a16="http://schemas.microsoft.com/office/drawing/2014/main" id="{7DF3BD8B-3BBB-A860-F1C7-761075065159}"/>
              </a:ext>
            </a:extLst>
          </p:cNvPr>
          <p:cNvCxnSpPr>
            <a:stCxn id="3" idx="2"/>
            <a:endCxn id="8" idx="1"/>
          </p:cNvCxnSpPr>
          <p:nvPr/>
        </p:nvCxnSpPr>
        <p:spPr>
          <a:xfrm rot="16200000" flipH="1">
            <a:off x="1975403" y="2207316"/>
            <a:ext cx="601316" cy="184205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CEE83901-FA10-F81D-A62E-BD1C34156E04}"/>
              </a:ext>
            </a:extLst>
          </p:cNvPr>
          <p:cNvPicPr>
            <a:picLocks noChangeAspect="1"/>
          </p:cNvPicPr>
          <p:nvPr/>
        </p:nvPicPr>
        <p:blipFill>
          <a:blip r:embed="rId3"/>
          <a:stretch>
            <a:fillRect/>
          </a:stretch>
        </p:blipFill>
        <p:spPr>
          <a:xfrm>
            <a:off x="8113643" y="824711"/>
            <a:ext cx="2908852" cy="4974758"/>
          </a:xfrm>
          <a:prstGeom prst="rect">
            <a:avLst/>
          </a:prstGeom>
        </p:spPr>
      </p:pic>
      <p:sp>
        <p:nvSpPr>
          <p:cNvPr id="19" name="Title 2">
            <a:extLst>
              <a:ext uri="{FF2B5EF4-FFF2-40B4-BE49-F238E27FC236}">
                <a16:creationId xmlns:a16="http://schemas.microsoft.com/office/drawing/2014/main" id="{BE563FCE-AC85-6286-22A5-D46C929CEF84}"/>
              </a:ext>
            </a:extLst>
          </p:cNvPr>
          <p:cNvSpPr>
            <a:spLocks noGrp="1"/>
          </p:cNvSpPr>
          <p:nvPr>
            <p:ph type="title"/>
          </p:nvPr>
        </p:nvSpPr>
        <p:spPr>
          <a:xfrm>
            <a:off x="367748" y="-250559"/>
            <a:ext cx="10515600" cy="1325563"/>
          </a:xfrm>
        </p:spPr>
        <p:txBody>
          <a:bodyPr>
            <a:normAutofit/>
          </a:bodyPr>
          <a:lstStyle/>
          <a:p>
            <a:r>
              <a:rPr lang="vi-VN" sz="3200"/>
              <a:t>Thu Thập Phụ Đề</a:t>
            </a:r>
          </a:p>
        </p:txBody>
      </p:sp>
    </p:spTree>
    <p:extLst>
      <p:ext uri="{BB962C8B-B14F-4D97-AF65-F5344CB8AC3E}">
        <p14:creationId xmlns:p14="http://schemas.microsoft.com/office/powerpoint/2010/main" val="422222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3" name="Title 2">
            <a:extLst>
              <a:ext uri="{FF2B5EF4-FFF2-40B4-BE49-F238E27FC236}">
                <a16:creationId xmlns:a16="http://schemas.microsoft.com/office/drawing/2014/main" id="{78547435-0039-0D5F-E161-79A032A40EF9}"/>
              </a:ext>
            </a:extLst>
          </p:cNvPr>
          <p:cNvSpPr>
            <a:spLocks noGrp="1"/>
          </p:cNvSpPr>
          <p:nvPr>
            <p:ph type="title"/>
          </p:nvPr>
        </p:nvSpPr>
        <p:spPr>
          <a:xfrm>
            <a:off x="367748" y="-250559"/>
            <a:ext cx="10515600" cy="1325563"/>
          </a:xfrm>
        </p:spPr>
        <p:txBody>
          <a:bodyPr>
            <a:normAutofit/>
          </a:bodyPr>
          <a:lstStyle/>
          <a:p>
            <a:r>
              <a:rPr lang="vi-VN" sz="3200"/>
              <a:t>Làm sạch Phụ đề</a:t>
            </a:r>
          </a:p>
        </p:txBody>
      </p:sp>
      <p:sp>
        <p:nvSpPr>
          <p:cNvPr id="6" name="TextBox 5">
            <a:extLst>
              <a:ext uri="{FF2B5EF4-FFF2-40B4-BE49-F238E27FC236}">
                <a16:creationId xmlns:a16="http://schemas.microsoft.com/office/drawing/2014/main" id="{610C5EAB-FC54-87E0-3A4E-32A1B00BD1D8}"/>
              </a:ext>
            </a:extLst>
          </p:cNvPr>
          <p:cNvSpPr txBox="1"/>
          <p:nvPr/>
        </p:nvSpPr>
        <p:spPr>
          <a:xfrm>
            <a:off x="367748" y="934278"/>
            <a:ext cx="7871791" cy="1421928"/>
          </a:xfrm>
          <a:prstGeom prst="rect">
            <a:avLst/>
          </a:prstGeom>
          <a:noFill/>
        </p:spPr>
        <p:txBody>
          <a:bodyPr wrap="square" rtlCol="0">
            <a:spAutoFit/>
          </a:bodyPr>
          <a:lstStyle/>
          <a:p>
            <a:pPr>
              <a:lnSpc>
                <a:spcPct val="90000"/>
              </a:lnSpc>
              <a:buClr>
                <a:srgbClr val="153898"/>
              </a:buClr>
              <a:buSzPts val="1800"/>
            </a:pPr>
            <a:r>
              <a:rPr lang="vi-VN" sz="2400">
                <a:solidFill>
                  <a:srgbClr val="153898"/>
                </a:solidFill>
                <a:latin typeface="Bai Jamjuree"/>
                <a:cs typeface="Bai Jamjuree"/>
                <a:sym typeface="Bai Jamjuree"/>
              </a:rPr>
              <a:t>- Làm sạch nội dung text </a:t>
            </a:r>
            <a:br>
              <a:rPr lang="vi-VN" sz="2400">
                <a:solidFill>
                  <a:srgbClr val="153898"/>
                </a:solidFill>
                <a:latin typeface="Bai Jamjuree"/>
                <a:cs typeface="Bai Jamjuree"/>
                <a:sym typeface="Bai Jamjuree"/>
              </a:rPr>
            </a:br>
            <a:r>
              <a:rPr lang="vi-VN" sz="2400">
                <a:solidFill>
                  <a:srgbClr val="153898"/>
                </a:solidFill>
                <a:latin typeface="Bai Jamjuree"/>
                <a:cs typeface="Bai Jamjuree"/>
                <a:sym typeface="Bai Jamjuree"/>
              </a:rPr>
              <a:t>- kiểm tra trùng lặp.</a:t>
            </a:r>
            <a:br>
              <a:rPr lang="vi-VN" sz="2400">
                <a:solidFill>
                  <a:srgbClr val="153898"/>
                </a:solidFill>
                <a:latin typeface="Bai Jamjuree"/>
                <a:cs typeface="Bai Jamjuree"/>
                <a:sym typeface="Bai Jamjuree"/>
              </a:rPr>
            </a:br>
            <a:r>
              <a:rPr lang="vi-VN" sz="2400">
                <a:solidFill>
                  <a:srgbClr val="153898"/>
                </a:solidFill>
                <a:latin typeface="Bai Jamjuree"/>
                <a:cs typeface="Bai Jamjuree"/>
                <a:sym typeface="Bai Jamjuree"/>
              </a:rPr>
              <a:t>- Kiểm tra 2 đoạn text có bị trùng không.</a:t>
            </a:r>
            <a:br>
              <a:rPr lang="vi-VN" sz="2400">
                <a:solidFill>
                  <a:srgbClr val="153898"/>
                </a:solidFill>
                <a:latin typeface="Bai Jamjuree"/>
                <a:cs typeface="Bai Jamjuree"/>
                <a:sym typeface="Bai Jamjuree"/>
              </a:rPr>
            </a:br>
            <a:r>
              <a:rPr lang="vi-VN" sz="2400">
                <a:solidFill>
                  <a:srgbClr val="153898"/>
                </a:solidFill>
                <a:latin typeface="Bai Jamjuree"/>
                <a:cs typeface="Bai Jamjuree"/>
                <a:sym typeface="Bai Jamjuree"/>
              </a:rPr>
              <a:t>- Sửa timestamp lỗi cơ bản</a:t>
            </a:r>
          </a:p>
        </p:txBody>
      </p:sp>
      <p:sp>
        <p:nvSpPr>
          <p:cNvPr id="7" name="Title 2">
            <a:extLst>
              <a:ext uri="{FF2B5EF4-FFF2-40B4-BE49-F238E27FC236}">
                <a16:creationId xmlns:a16="http://schemas.microsoft.com/office/drawing/2014/main" id="{EE37AF2D-C39D-7FA5-E0A1-4532D4E97302}"/>
              </a:ext>
            </a:extLst>
          </p:cNvPr>
          <p:cNvSpPr txBox="1">
            <a:spLocks/>
          </p:cNvSpPr>
          <p:nvPr/>
        </p:nvSpPr>
        <p:spPr>
          <a:xfrm>
            <a:off x="367748" y="2103437"/>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3898"/>
              </a:buClr>
              <a:buSzPts val="1800"/>
              <a:buFont typeface="Bai Jamjuree"/>
              <a:buNone/>
              <a:defRPr sz="4400" b="1" i="0" u="none" strike="noStrike" cap="none">
                <a:solidFill>
                  <a:srgbClr val="153898"/>
                </a:solidFill>
                <a:latin typeface="Bai Jamjuree"/>
                <a:ea typeface="Bai Jamjuree"/>
                <a:cs typeface="Bai Jamjuree"/>
                <a:sym typeface="Bai Jamjure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vi-VN" sz="3200"/>
              <a:t>Chia phụ đề thành các khối theo thời gian 60s</a:t>
            </a:r>
          </a:p>
        </p:txBody>
      </p:sp>
      <p:pic>
        <p:nvPicPr>
          <p:cNvPr id="12" name="Picture 11">
            <a:extLst>
              <a:ext uri="{FF2B5EF4-FFF2-40B4-BE49-F238E27FC236}">
                <a16:creationId xmlns:a16="http://schemas.microsoft.com/office/drawing/2014/main" id="{EF04A72A-53C4-E4BD-54BD-4860918FC4FE}"/>
              </a:ext>
            </a:extLst>
          </p:cNvPr>
          <p:cNvPicPr>
            <a:picLocks noChangeAspect="1"/>
          </p:cNvPicPr>
          <p:nvPr/>
        </p:nvPicPr>
        <p:blipFill>
          <a:blip r:embed="rId3"/>
          <a:stretch>
            <a:fillRect/>
          </a:stretch>
        </p:blipFill>
        <p:spPr>
          <a:xfrm>
            <a:off x="811977" y="3276230"/>
            <a:ext cx="8779001" cy="23624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276E65-4570-C02B-C742-7BC765EDC96F}"/>
            </a:ext>
          </a:extLst>
        </p:cNvPr>
        <p:cNvGrpSpPr/>
        <p:nvPr/>
      </p:nvGrpSpPr>
      <p:grpSpPr>
        <a:xfrm>
          <a:off x="0" y="0"/>
          <a:ext cx="0" cy="0"/>
          <a:chOff x="0" y="0"/>
          <a:chExt cx="0" cy="0"/>
        </a:xfrm>
      </p:grpSpPr>
      <p:sp>
        <p:nvSpPr>
          <p:cNvPr id="8" name="Title 2">
            <a:extLst>
              <a:ext uri="{FF2B5EF4-FFF2-40B4-BE49-F238E27FC236}">
                <a16:creationId xmlns:a16="http://schemas.microsoft.com/office/drawing/2014/main" id="{6D2CA141-ECDB-627B-87F3-80DD2A09232F}"/>
              </a:ext>
            </a:extLst>
          </p:cNvPr>
          <p:cNvSpPr>
            <a:spLocks noGrp="1"/>
          </p:cNvSpPr>
          <p:nvPr>
            <p:ph type="title"/>
          </p:nvPr>
        </p:nvSpPr>
        <p:spPr>
          <a:xfrm>
            <a:off x="367747" y="-250559"/>
            <a:ext cx="11251095" cy="1325563"/>
          </a:xfrm>
        </p:spPr>
        <p:txBody>
          <a:bodyPr>
            <a:normAutofit/>
          </a:bodyPr>
          <a:lstStyle/>
          <a:p>
            <a:r>
              <a:rPr lang="vi-VN" sz="3200"/>
              <a:t>Tìm độ tương đồng của các khối và gom thành chủ đề</a:t>
            </a:r>
          </a:p>
        </p:txBody>
      </p:sp>
      <p:pic>
        <p:nvPicPr>
          <p:cNvPr id="12" name="Picture 11">
            <a:extLst>
              <a:ext uri="{FF2B5EF4-FFF2-40B4-BE49-F238E27FC236}">
                <a16:creationId xmlns:a16="http://schemas.microsoft.com/office/drawing/2014/main" id="{4318B8EC-8D16-CE37-8B6D-6E637E62D441}"/>
              </a:ext>
            </a:extLst>
          </p:cNvPr>
          <p:cNvPicPr>
            <a:picLocks noChangeAspect="1"/>
          </p:cNvPicPr>
          <p:nvPr/>
        </p:nvPicPr>
        <p:blipFill>
          <a:blip r:embed="rId3"/>
          <a:stretch>
            <a:fillRect/>
          </a:stretch>
        </p:blipFill>
        <p:spPr>
          <a:xfrm>
            <a:off x="367747" y="1529533"/>
            <a:ext cx="3541642" cy="1306625"/>
          </a:xfrm>
          <a:prstGeom prst="rect">
            <a:avLst/>
          </a:prstGeom>
        </p:spPr>
      </p:pic>
      <p:pic>
        <p:nvPicPr>
          <p:cNvPr id="14" name="Picture 13">
            <a:extLst>
              <a:ext uri="{FF2B5EF4-FFF2-40B4-BE49-F238E27FC236}">
                <a16:creationId xmlns:a16="http://schemas.microsoft.com/office/drawing/2014/main" id="{4F89C00D-974E-45C1-E43D-17711E2A0739}"/>
              </a:ext>
            </a:extLst>
          </p:cNvPr>
          <p:cNvPicPr>
            <a:picLocks noChangeAspect="1"/>
          </p:cNvPicPr>
          <p:nvPr/>
        </p:nvPicPr>
        <p:blipFill>
          <a:blip r:embed="rId4"/>
          <a:stretch>
            <a:fillRect/>
          </a:stretch>
        </p:blipFill>
        <p:spPr>
          <a:xfrm>
            <a:off x="5125279" y="1529533"/>
            <a:ext cx="6662529" cy="3488305"/>
          </a:xfrm>
          <a:prstGeom prst="rect">
            <a:avLst/>
          </a:prstGeom>
        </p:spPr>
      </p:pic>
    </p:spTree>
    <p:extLst>
      <p:ext uri="{BB962C8B-B14F-4D97-AF65-F5344CB8AC3E}">
        <p14:creationId xmlns:p14="http://schemas.microsoft.com/office/powerpoint/2010/main" val="3418086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6" name="Title 2">
            <a:extLst>
              <a:ext uri="{FF2B5EF4-FFF2-40B4-BE49-F238E27FC236}">
                <a16:creationId xmlns:a16="http://schemas.microsoft.com/office/drawing/2014/main" id="{F9F3BBBF-7DC8-7E87-DC40-A6C1FC731F8E}"/>
              </a:ext>
            </a:extLst>
          </p:cNvPr>
          <p:cNvSpPr>
            <a:spLocks noGrp="1"/>
          </p:cNvSpPr>
          <p:nvPr>
            <p:ph type="title"/>
          </p:nvPr>
        </p:nvSpPr>
        <p:spPr>
          <a:xfrm>
            <a:off x="367748" y="-250559"/>
            <a:ext cx="4532244" cy="1325563"/>
          </a:xfrm>
        </p:spPr>
        <p:txBody>
          <a:bodyPr>
            <a:normAutofit/>
          </a:bodyPr>
          <a:lstStyle/>
          <a:p>
            <a:r>
              <a:rPr lang="vi-VN" sz="3200"/>
              <a:t>Qwen2.5-7B-Instruct</a:t>
            </a:r>
          </a:p>
        </p:txBody>
      </p:sp>
      <p:pic>
        <p:nvPicPr>
          <p:cNvPr id="9" name="Picture 8">
            <a:extLst>
              <a:ext uri="{FF2B5EF4-FFF2-40B4-BE49-F238E27FC236}">
                <a16:creationId xmlns:a16="http://schemas.microsoft.com/office/drawing/2014/main" id="{5C6F8FE7-0A1D-3AC5-0DEF-CFC8C297A1AF}"/>
              </a:ext>
            </a:extLst>
          </p:cNvPr>
          <p:cNvPicPr>
            <a:picLocks noChangeAspect="1"/>
          </p:cNvPicPr>
          <p:nvPr/>
        </p:nvPicPr>
        <p:blipFill>
          <a:blip r:embed="rId3"/>
          <a:stretch>
            <a:fillRect/>
          </a:stretch>
        </p:blipFill>
        <p:spPr>
          <a:xfrm>
            <a:off x="440436" y="1075004"/>
            <a:ext cx="5754751" cy="1879885"/>
          </a:xfrm>
          <a:prstGeom prst="rect">
            <a:avLst/>
          </a:prstGeom>
        </p:spPr>
      </p:pic>
      <p:pic>
        <p:nvPicPr>
          <p:cNvPr id="14" name="Picture 13">
            <a:extLst>
              <a:ext uri="{FF2B5EF4-FFF2-40B4-BE49-F238E27FC236}">
                <a16:creationId xmlns:a16="http://schemas.microsoft.com/office/drawing/2014/main" id="{DB3B422E-E318-842D-67E1-CD1B29AD53B5}"/>
              </a:ext>
            </a:extLst>
          </p:cNvPr>
          <p:cNvPicPr>
            <a:picLocks noChangeAspect="1"/>
          </p:cNvPicPr>
          <p:nvPr/>
        </p:nvPicPr>
        <p:blipFill>
          <a:blip r:embed="rId4"/>
          <a:stretch>
            <a:fillRect/>
          </a:stretch>
        </p:blipFill>
        <p:spPr>
          <a:xfrm>
            <a:off x="440435" y="3903112"/>
            <a:ext cx="5754751" cy="1735211"/>
          </a:xfrm>
          <a:prstGeom prst="rect">
            <a:avLst/>
          </a:prstGeom>
        </p:spPr>
      </p:pic>
      <p:pic>
        <p:nvPicPr>
          <p:cNvPr id="16" name="Picture 15">
            <a:extLst>
              <a:ext uri="{FF2B5EF4-FFF2-40B4-BE49-F238E27FC236}">
                <a16:creationId xmlns:a16="http://schemas.microsoft.com/office/drawing/2014/main" id="{652721C7-7DCF-F84B-142A-41A5B50D55C1}"/>
              </a:ext>
            </a:extLst>
          </p:cNvPr>
          <p:cNvPicPr>
            <a:picLocks noChangeAspect="1"/>
          </p:cNvPicPr>
          <p:nvPr/>
        </p:nvPicPr>
        <p:blipFill>
          <a:blip r:embed="rId5"/>
          <a:stretch>
            <a:fillRect/>
          </a:stretch>
        </p:blipFill>
        <p:spPr>
          <a:xfrm>
            <a:off x="6706119" y="1075004"/>
            <a:ext cx="4674185" cy="46200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BF3A9C2A-B87C-03A1-83ED-22732826A4C4}"/>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45A08AA-830B-78DB-AE80-AE8F2A9E0DEB}"/>
              </a:ext>
            </a:extLst>
          </p:cNvPr>
          <p:cNvSpPr>
            <a:spLocks noGrp="1"/>
          </p:cNvSpPr>
          <p:nvPr>
            <p:ph type="title"/>
          </p:nvPr>
        </p:nvSpPr>
        <p:spPr>
          <a:xfrm>
            <a:off x="367748" y="-250559"/>
            <a:ext cx="5840012" cy="1325563"/>
          </a:xfrm>
        </p:spPr>
        <p:txBody>
          <a:bodyPr>
            <a:normAutofit/>
          </a:bodyPr>
          <a:lstStyle/>
          <a:p>
            <a:r>
              <a:rPr lang="vi-VN" sz="3200"/>
              <a:t>Trực Quan Hóa dữ liệu</a:t>
            </a:r>
          </a:p>
        </p:txBody>
      </p:sp>
      <p:pic>
        <p:nvPicPr>
          <p:cNvPr id="5" name="Picture 4">
            <a:extLst>
              <a:ext uri="{FF2B5EF4-FFF2-40B4-BE49-F238E27FC236}">
                <a16:creationId xmlns:a16="http://schemas.microsoft.com/office/drawing/2014/main" id="{A1072AAF-86D7-EBA1-7E0E-C6503644342C}"/>
              </a:ext>
            </a:extLst>
          </p:cNvPr>
          <p:cNvPicPr>
            <a:picLocks noChangeAspect="1"/>
          </p:cNvPicPr>
          <p:nvPr/>
        </p:nvPicPr>
        <p:blipFill>
          <a:blip r:embed="rId3"/>
          <a:stretch>
            <a:fillRect/>
          </a:stretch>
        </p:blipFill>
        <p:spPr>
          <a:xfrm>
            <a:off x="453279" y="1322628"/>
            <a:ext cx="11508961" cy="3828491"/>
          </a:xfrm>
          <a:prstGeom prst="rect">
            <a:avLst/>
          </a:prstGeom>
        </p:spPr>
      </p:pic>
    </p:spTree>
    <p:extLst>
      <p:ext uri="{BB962C8B-B14F-4D97-AF65-F5344CB8AC3E}">
        <p14:creationId xmlns:p14="http://schemas.microsoft.com/office/powerpoint/2010/main" val="1651475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D166AFB8-2F65-60C7-EA29-BCBC6DA629C2}"/>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97782EA-98E9-7100-ADA6-D59AB48F7D54}"/>
              </a:ext>
            </a:extLst>
          </p:cNvPr>
          <p:cNvSpPr>
            <a:spLocks noGrp="1"/>
          </p:cNvSpPr>
          <p:nvPr>
            <p:ph type="title"/>
          </p:nvPr>
        </p:nvSpPr>
        <p:spPr>
          <a:xfrm>
            <a:off x="367748" y="-250559"/>
            <a:ext cx="5840012" cy="1325563"/>
          </a:xfrm>
        </p:spPr>
        <p:txBody>
          <a:bodyPr>
            <a:normAutofit/>
          </a:bodyPr>
          <a:lstStyle/>
          <a:p>
            <a:r>
              <a:rPr lang="vi-VN" sz="3200"/>
              <a:t>Trực Quan Hóa dữ liệu</a:t>
            </a:r>
          </a:p>
        </p:txBody>
      </p:sp>
      <p:pic>
        <p:nvPicPr>
          <p:cNvPr id="3" name="Picture 2">
            <a:extLst>
              <a:ext uri="{FF2B5EF4-FFF2-40B4-BE49-F238E27FC236}">
                <a16:creationId xmlns:a16="http://schemas.microsoft.com/office/drawing/2014/main" id="{7E02526C-FD2A-D687-5035-C63B374AEF97}"/>
              </a:ext>
            </a:extLst>
          </p:cNvPr>
          <p:cNvPicPr>
            <a:picLocks noChangeAspect="1"/>
          </p:cNvPicPr>
          <p:nvPr/>
        </p:nvPicPr>
        <p:blipFill>
          <a:blip r:embed="rId3"/>
          <a:srcRect l="596"/>
          <a:stretch>
            <a:fillRect/>
          </a:stretch>
        </p:blipFill>
        <p:spPr>
          <a:xfrm>
            <a:off x="518159" y="1415943"/>
            <a:ext cx="11075441" cy="3613257"/>
          </a:xfrm>
          <a:prstGeom prst="rect">
            <a:avLst/>
          </a:prstGeom>
        </p:spPr>
      </p:pic>
    </p:spTree>
    <p:extLst>
      <p:ext uri="{BB962C8B-B14F-4D97-AF65-F5344CB8AC3E}">
        <p14:creationId xmlns:p14="http://schemas.microsoft.com/office/powerpoint/2010/main" val="1258629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73EB7A10-45A8-5CA2-61E1-B2D959B8B8A7}"/>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E6A637F-8A4D-E945-2010-90B95069CAA8}"/>
              </a:ext>
            </a:extLst>
          </p:cNvPr>
          <p:cNvSpPr>
            <a:spLocks noGrp="1"/>
          </p:cNvSpPr>
          <p:nvPr>
            <p:ph type="title"/>
          </p:nvPr>
        </p:nvSpPr>
        <p:spPr>
          <a:xfrm>
            <a:off x="367748" y="-250559"/>
            <a:ext cx="5840012" cy="1325563"/>
          </a:xfrm>
        </p:spPr>
        <p:txBody>
          <a:bodyPr>
            <a:normAutofit/>
          </a:bodyPr>
          <a:lstStyle/>
          <a:p>
            <a:r>
              <a:rPr lang="vi-VN" sz="3200"/>
              <a:t>Trực Quan Hóa dữ liệu</a:t>
            </a:r>
          </a:p>
        </p:txBody>
      </p:sp>
      <p:pic>
        <p:nvPicPr>
          <p:cNvPr id="3" name="Picture 2">
            <a:extLst>
              <a:ext uri="{FF2B5EF4-FFF2-40B4-BE49-F238E27FC236}">
                <a16:creationId xmlns:a16="http://schemas.microsoft.com/office/drawing/2014/main" id="{1D9C178A-0788-29ED-0878-6D042AE598CC}"/>
              </a:ext>
            </a:extLst>
          </p:cNvPr>
          <p:cNvPicPr>
            <a:picLocks noChangeAspect="1"/>
          </p:cNvPicPr>
          <p:nvPr/>
        </p:nvPicPr>
        <p:blipFill>
          <a:blip r:embed="rId3"/>
          <a:srcRect l="485" r="485"/>
          <a:stretch/>
        </p:blipFill>
        <p:spPr>
          <a:xfrm>
            <a:off x="518159" y="1415943"/>
            <a:ext cx="11075441" cy="3613257"/>
          </a:xfrm>
          <a:prstGeom prst="rect">
            <a:avLst/>
          </a:prstGeom>
        </p:spPr>
      </p:pic>
    </p:spTree>
    <p:extLst>
      <p:ext uri="{BB962C8B-B14F-4D97-AF65-F5344CB8AC3E}">
        <p14:creationId xmlns:p14="http://schemas.microsoft.com/office/powerpoint/2010/main" val="3870630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3450BFA3-1EF7-0325-A956-30E234D1969D}"/>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E8B89E7C-D959-32B8-0A82-44A820258D4E}"/>
              </a:ext>
            </a:extLst>
          </p:cNvPr>
          <p:cNvSpPr>
            <a:spLocks noGrp="1"/>
          </p:cNvSpPr>
          <p:nvPr>
            <p:ph type="title"/>
          </p:nvPr>
        </p:nvSpPr>
        <p:spPr>
          <a:xfrm>
            <a:off x="367748" y="-250559"/>
            <a:ext cx="4532244" cy="1325563"/>
          </a:xfrm>
        </p:spPr>
        <p:txBody>
          <a:bodyPr>
            <a:normAutofit/>
          </a:bodyPr>
          <a:lstStyle/>
          <a:p>
            <a:r>
              <a:rPr lang="vi-VN" sz="3200"/>
              <a:t>Qwen2.5-7B-Instruct</a:t>
            </a:r>
          </a:p>
        </p:txBody>
      </p:sp>
      <p:pic>
        <p:nvPicPr>
          <p:cNvPr id="3" name="Picture 2">
            <a:extLst>
              <a:ext uri="{FF2B5EF4-FFF2-40B4-BE49-F238E27FC236}">
                <a16:creationId xmlns:a16="http://schemas.microsoft.com/office/drawing/2014/main" id="{9239E632-C3B2-68E6-6C84-4E08EA2C7F51}"/>
              </a:ext>
            </a:extLst>
          </p:cNvPr>
          <p:cNvPicPr>
            <a:picLocks noChangeAspect="1"/>
          </p:cNvPicPr>
          <p:nvPr/>
        </p:nvPicPr>
        <p:blipFill>
          <a:blip r:embed="rId3"/>
          <a:stretch>
            <a:fillRect/>
          </a:stretch>
        </p:blipFill>
        <p:spPr>
          <a:xfrm>
            <a:off x="6857870" y="1164834"/>
            <a:ext cx="4099690" cy="4473489"/>
          </a:xfrm>
          <a:prstGeom prst="rect">
            <a:avLst/>
          </a:prstGeom>
        </p:spPr>
      </p:pic>
      <p:pic>
        <p:nvPicPr>
          <p:cNvPr id="5" name="Picture 4">
            <a:extLst>
              <a:ext uri="{FF2B5EF4-FFF2-40B4-BE49-F238E27FC236}">
                <a16:creationId xmlns:a16="http://schemas.microsoft.com/office/drawing/2014/main" id="{388F301E-AFFF-D320-4EF2-4C4957567EFC}"/>
              </a:ext>
            </a:extLst>
          </p:cNvPr>
          <p:cNvPicPr>
            <a:picLocks noChangeAspect="1"/>
          </p:cNvPicPr>
          <p:nvPr/>
        </p:nvPicPr>
        <p:blipFill>
          <a:blip r:embed="rId4"/>
          <a:stretch>
            <a:fillRect/>
          </a:stretch>
        </p:blipFill>
        <p:spPr>
          <a:xfrm>
            <a:off x="367748" y="1164834"/>
            <a:ext cx="6251753" cy="2008840"/>
          </a:xfrm>
          <a:prstGeom prst="rect">
            <a:avLst/>
          </a:prstGeom>
        </p:spPr>
      </p:pic>
    </p:spTree>
    <p:extLst>
      <p:ext uri="{BB962C8B-B14F-4D97-AF65-F5344CB8AC3E}">
        <p14:creationId xmlns:p14="http://schemas.microsoft.com/office/powerpoint/2010/main" val="1933656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D9AC169D-0982-AEB1-1936-8F4E956FB5E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5FFBB17A-DFF5-EBC7-FA4C-D8D18BAF5B0E}"/>
              </a:ext>
            </a:extLst>
          </p:cNvPr>
          <p:cNvSpPr>
            <a:spLocks noGrp="1"/>
          </p:cNvSpPr>
          <p:nvPr>
            <p:ph type="title"/>
          </p:nvPr>
        </p:nvSpPr>
        <p:spPr>
          <a:xfrm>
            <a:off x="367748" y="-250559"/>
            <a:ext cx="4532244" cy="1325563"/>
          </a:xfrm>
        </p:spPr>
        <p:txBody>
          <a:bodyPr>
            <a:normAutofit/>
          </a:bodyPr>
          <a:lstStyle/>
          <a:p>
            <a:r>
              <a:rPr lang="vi-VN" sz="3200"/>
              <a:t>Qwen3-4B-Instruct</a:t>
            </a:r>
          </a:p>
        </p:txBody>
      </p:sp>
      <p:sp>
        <p:nvSpPr>
          <p:cNvPr id="2" name="Title 2">
            <a:extLst>
              <a:ext uri="{FF2B5EF4-FFF2-40B4-BE49-F238E27FC236}">
                <a16:creationId xmlns:a16="http://schemas.microsoft.com/office/drawing/2014/main" id="{4C64B92B-9587-B65F-EC84-50303BFEB7A4}"/>
              </a:ext>
            </a:extLst>
          </p:cNvPr>
          <p:cNvSpPr txBox="1">
            <a:spLocks/>
          </p:cNvSpPr>
          <p:nvPr/>
        </p:nvSpPr>
        <p:spPr>
          <a:xfrm>
            <a:off x="367748" y="541921"/>
            <a:ext cx="10930172"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3898"/>
              </a:buClr>
              <a:buSzPts val="1800"/>
              <a:buFont typeface="Bai Jamjuree"/>
              <a:buNone/>
              <a:defRPr sz="4400" b="1" i="0" u="none" strike="noStrike" cap="none">
                <a:solidFill>
                  <a:srgbClr val="153898"/>
                </a:solidFill>
                <a:latin typeface="Bai Jamjuree"/>
                <a:ea typeface="Bai Jamjuree"/>
                <a:cs typeface="Bai Jamjuree"/>
                <a:sym typeface="Bai Jamjure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vi-VN" sz="2400" b="0"/>
              <a:t>question = "video nay noi ve gi co code khong code bang ngon ngu gi va nguoi trinh bay la gai hay trai"</a:t>
            </a:r>
          </a:p>
        </p:txBody>
      </p:sp>
      <p:pic>
        <p:nvPicPr>
          <p:cNvPr id="7" name="Picture 6">
            <a:extLst>
              <a:ext uri="{FF2B5EF4-FFF2-40B4-BE49-F238E27FC236}">
                <a16:creationId xmlns:a16="http://schemas.microsoft.com/office/drawing/2014/main" id="{1C3E6D1C-FB80-BBC0-FE88-2D6AE433444F}"/>
              </a:ext>
            </a:extLst>
          </p:cNvPr>
          <p:cNvPicPr>
            <a:picLocks noChangeAspect="1"/>
          </p:cNvPicPr>
          <p:nvPr/>
        </p:nvPicPr>
        <p:blipFill>
          <a:blip r:embed="rId3"/>
          <a:stretch>
            <a:fillRect/>
          </a:stretch>
        </p:blipFill>
        <p:spPr>
          <a:xfrm>
            <a:off x="515282" y="1867483"/>
            <a:ext cx="10193358" cy="3111867"/>
          </a:xfrm>
          <a:prstGeom prst="rect">
            <a:avLst/>
          </a:prstGeom>
        </p:spPr>
      </p:pic>
    </p:spTree>
    <p:extLst>
      <p:ext uri="{BB962C8B-B14F-4D97-AF65-F5344CB8AC3E}">
        <p14:creationId xmlns:p14="http://schemas.microsoft.com/office/powerpoint/2010/main" val="1750081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B3C637B3-568B-F2FC-EF78-3E6DE0C2E3B7}"/>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A798C68B-2CA6-4A9B-A3B5-7F9E3C5317D2}"/>
              </a:ext>
            </a:extLst>
          </p:cNvPr>
          <p:cNvSpPr>
            <a:spLocks noGrp="1"/>
          </p:cNvSpPr>
          <p:nvPr>
            <p:ph type="title"/>
          </p:nvPr>
        </p:nvSpPr>
        <p:spPr>
          <a:xfrm>
            <a:off x="193040" y="-240399"/>
            <a:ext cx="13289280" cy="1325563"/>
          </a:xfrm>
        </p:spPr>
        <p:txBody>
          <a:bodyPr>
            <a:normAutofit/>
          </a:bodyPr>
          <a:lstStyle/>
          <a:p>
            <a:r>
              <a:rPr lang="vi-VN" sz="3200"/>
              <a:t> vinai/phobert-base + RoBERTa Student + bge-m3</a:t>
            </a:r>
          </a:p>
        </p:txBody>
      </p:sp>
      <p:graphicFrame>
        <p:nvGraphicFramePr>
          <p:cNvPr id="3" name="Table 2">
            <a:extLst>
              <a:ext uri="{FF2B5EF4-FFF2-40B4-BE49-F238E27FC236}">
                <a16:creationId xmlns:a16="http://schemas.microsoft.com/office/drawing/2014/main" id="{17A98F12-CAF0-C114-03E7-7F7E23F8A039}"/>
              </a:ext>
            </a:extLst>
          </p:cNvPr>
          <p:cNvGraphicFramePr>
            <a:graphicFrameLocks noGrp="1"/>
          </p:cNvGraphicFramePr>
          <p:nvPr>
            <p:extLst>
              <p:ext uri="{D42A27DB-BD31-4B8C-83A1-F6EECF244321}">
                <p14:modId xmlns:p14="http://schemas.microsoft.com/office/powerpoint/2010/main" val="267499830"/>
              </p:ext>
            </p:extLst>
          </p:nvPr>
        </p:nvGraphicFramePr>
        <p:xfrm>
          <a:off x="584200" y="1512094"/>
          <a:ext cx="10515600" cy="4023360"/>
        </p:xfrm>
        <a:graphic>
          <a:graphicData uri="http://schemas.openxmlformats.org/drawingml/2006/table">
            <a:tbl>
              <a:tblPr>
                <a:tableStyleId>{C59BCFFA-FBAA-4B6E-87EC-B02885E3A683}</a:tableStyleId>
              </a:tblPr>
              <a:tblGrid>
                <a:gridCol w="2628900">
                  <a:extLst>
                    <a:ext uri="{9D8B030D-6E8A-4147-A177-3AD203B41FA5}">
                      <a16:colId xmlns:a16="http://schemas.microsoft.com/office/drawing/2014/main" val="4205284267"/>
                    </a:ext>
                  </a:extLst>
                </a:gridCol>
                <a:gridCol w="2628900">
                  <a:extLst>
                    <a:ext uri="{9D8B030D-6E8A-4147-A177-3AD203B41FA5}">
                      <a16:colId xmlns:a16="http://schemas.microsoft.com/office/drawing/2014/main" val="1627841761"/>
                    </a:ext>
                  </a:extLst>
                </a:gridCol>
                <a:gridCol w="2628900">
                  <a:extLst>
                    <a:ext uri="{9D8B030D-6E8A-4147-A177-3AD203B41FA5}">
                      <a16:colId xmlns:a16="http://schemas.microsoft.com/office/drawing/2014/main" val="3350267832"/>
                    </a:ext>
                  </a:extLst>
                </a:gridCol>
                <a:gridCol w="2628900">
                  <a:extLst>
                    <a:ext uri="{9D8B030D-6E8A-4147-A177-3AD203B41FA5}">
                      <a16:colId xmlns:a16="http://schemas.microsoft.com/office/drawing/2014/main" val="3634878618"/>
                    </a:ext>
                  </a:extLst>
                </a:gridCol>
              </a:tblGrid>
              <a:tr h="0">
                <a:tc>
                  <a:txBody>
                    <a:bodyPr/>
                    <a:lstStyle/>
                    <a:p>
                      <a:pPr>
                        <a:buNone/>
                      </a:pPr>
                      <a:r>
                        <a:rPr lang="vi-VN" b="1"/>
                        <a:t>Tiêu chí</a:t>
                      </a:r>
                    </a:p>
                  </a:txBody>
                  <a:tcPr anchor="ctr"/>
                </a:tc>
                <a:tc>
                  <a:txBody>
                    <a:bodyPr/>
                    <a:lstStyle/>
                    <a:p>
                      <a:pPr>
                        <a:buNone/>
                      </a:pPr>
                      <a:r>
                        <a:rPr lang="vi-VN" b="1"/>
                        <a:t>vinai/phobert-base</a:t>
                      </a:r>
                    </a:p>
                  </a:txBody>
                  <a:tcPr anchor="ctr"/>
                </a:tc>
                <a:tc>
                  <a:txBody>
                    <a:bodyPr/>
                    <a:lstStyle/>
                    <a:p>
                      <a:pPr>
                        <a:buNone/>
                      </a:pPr>
                      <a:r>
                        <a:rPr lang="vi-VN" b="1"/>
                        <a:t>RoBERTa Student</a:t>
                      </a:r>
                    </a:p>
                  </a:txBody>
                  <a:tcPr anchor="ctr"/>
                </a:tc>
                <a:tc>
                  <a:txBody>
                    <a:bodyPr/>
                    <a:lstStyle/>
                    <a:p>
                      <a:pPr>
                        <a:buNone/>
                      </a:pPr>
                      <a:r>
                        <a:rPr lang="vi-VN" b="1"/>
                        <a:t>bge-m3</a:t>
                      </a:r>
                    </a:p>
                  </a:txBody>
                  <a:tcPr anchor="ctr"/>
                </a:tc>
                <a:extLst>
                  <a:ext uri="{0D108BD9-81ED-4DB2-BD59-A6C34878D82A}">
                    <a16:rowId xmlns:a16="http://schemas.microsoft.com/office/drawing/2014/main" val="4013648295"/>
                  </a:ext>
                </a:extLst>
              </a:tr>
              <a:tr h="0">
                <a:tc>
                  <a:txBody>
                    <a:bodyPr/>
                    <a:lstStyle/>
                    <a:p>
                      <a:pPr>
                        <a:buNone/>
                      </a:pPr>
                      <a:r>
                        <a:rPr lang="vi-VN" b="1"/>
                        <a:t>Loại model</a:t>
                      </a:r>
                    </a:p>
                  </a:txBody>
                  <a:tcPr anchor="ctr"/>
                </a:tc>
                <a:tc>
                  <a:txBody>
                    <a:bodyPr/>
                    <a:lstStyle/>
                    <a:p>
                      <a:pPr>
                        <a:buNone/>
                      </a:pPr>
                      <a:r>
                        <a:rPr lang="vi-VN"/>
                        <a:t>Language model tiếng Việt</a:t>
                      </a:r>
                    </a:p>
                  </a:txBody>
                  <a:tcPr anchor="ctr"/>
                </a:tc>
                <a:tc>
                  <a:txBody>
                    <a:bodyPr/>
                    <a:lstStyle/>
                    <a:p>
                      <a:pPr>
                        <a:buNone/>
                      </a:pPr>
                      <a:r>
                        <a:rPr lang="vi-VN"/>
                        <a:t>Model embedding nhẹ / student</a:t>
                      </a:r>
                    </a:p>
                  </a:txBody>
                  <a:tcPr anchor="ctr"/>
                </a:tc>
                <a:tc>
                  <a:txBody>
                    <a:bodyPr/>
                    <a:lstStyle/>
                    <a:p>
                      <a:pPr>
                        <a:buNone/>
                      </a:pPr>
                      <a:r>
                        <a:rPr lang="da-DK"/>
                        <a:t>Embedding model đa ngôn ngữ</a:t>
                      </a:r>
                    </a:p>
                  </a:txBody>
                  <a:tcPr anchor="ctr"/>
                </a:tc>
                <a:extLst>
                  <a:ext uri="{0D108BD9-81ED-4DB2-BD59-A6C34878D82A}">
                    <a16:rowId xmlns:a16="http://schemas.microsoft.com/office/drawing/2014/main" val="2889738015"/>
                  </a:ext>
                </a:extLst>
              </a:tr>
              <a:tr h="0">
                <a:tc>
                  <a:txBody>
                    <a:bodyPr/>
                    <a:lstStyle/>
                    <a:p>
                      <a:pPr>
                        <a:buNone/>
                      </a:pPr>
                      <a:r>
                        <a:rPr lang="vi-VN" b="1"/>
                        <a:t>Ngôn ngữ mạnh nhất</a:t>
                      </a:r>
                    </a:p>
                  </a:txBody>
                  <a:tcPr anchor="ctr"/>
                </a:tc>
                <a:tc>
                  <a:txBody>
                    <a:bodyPr/>
                    <a:lstStyle/>
                    <a:p>
                      <a:pPr>
                        <a:buNone/>
                      </a:pPr>
                      <a:r>
                        <a:rPr lang="vi-VN"/>
                        <a:t>Tiếng Việt</a:t>
                      </a:r>
                    </a:p>
                  </a:txBody>
                  <a:tcPr anchor="ctr"/>
                </a:tc>
                <a:tc>
                  <a:txBody>
                    <a:bodyPr/>
                    <a:lstStyle/>
                    <a:p>
                      <a:pPr>
                        <a:buNone/>
                      </a:pPr>
                      <a:r>
                        <a:rPr lang="vi-VN"/>
                        <a:t>Tiếng Việt</a:t>
                      </a:r>
                    </a:p>
                  </a:txBody>
                  <a:tcPr anchor="ctr"/>
                </a:tc>
                <a:tc>
                  <a:txBody>
                    <a:bodyPr/>
                    <a:lstStyle/>
                    <a:p>
                      <a:pPr>
                        <a:buNone/>
                      </a:pPr>
                      <a:r>
                        <a:rPr lang="vi-VN"/>
                        <a:t>Đa ngôn ngữ, có tiếng Việt</a:t>
                      </a:r>
                    </a:p>
                  </a:txBody>
                  <a:tcPr anchor="ctr"/>
                </a:tc>
                <a:extLst>
                  <a:ext uri="{0D108BD9-81ED-4DB2-BD59-A6C34878D82A}">
                    <a16:rowId xmlns:a16="http://schemas.microsoft.com/office/drawing/2014/main" val="2719687878"/>
                  </a:ext>
                </a:extLst>
              </a:tr>
              <a:tr h="0">
                <a:tc>
                  <a:txBody>
                    <a:bodyPr/>
                    <a:lstStyle/>
                    <a:p>
                      <a:pPr>
                        <a:buNone/>
                      </a:pPr>
                      <a:r>
                        <a:rPr lang="vi-VN" b="1"/>
                        <a:t>Kích thước embedding</a:t>
                      </a:r>
                    </a:p>
                  </a:txBody>
                  <a:tcPr anchor="ctr"/>
                </a:tc>
                <a:tc>
                  <a:txBody>
                    <a:bodyPr/>
                    <a:lstStyle/>
                    <a:p>
                      <a:pPr>
                        <a:buNone/>
                      </a:pPr>
                      <a:r>
                        <a:rPr lang="vi-VN"/>
                        <a:t>Thường 768 chiều</a:t>
                      </a:r>
                    </a:p>
                  </a:txBody>
                  <a:tcPr anchor="ctr"/>
                </a:tc>
                <a:tc>
                  <a:txBody>
                    <a:bodyPr/>
                    <a:lstStyle/>
                    <a:p>
                      <a:pPr>
                        <a:buNone/>
                      </a:pPr>
                      <a:r>
                        <a:rPr lang="vi-VN"/>
                        <a:t>Thường 768 chiều</a:t>
                      </a:r>
                    </a:p>
                  </a:txBody>
                  <a:tcPr anchor="ctr"/>
                </a:tc>
                <a:tc>
                  <a:txBody>
                    <a:bodyPr/>
                    <a:lstStyle/>
                    <a:p>
                      <a:pPr>
                        <a:buNone/>
                      </a:pPr>
                      <a:r>
                        <a:rPr lang="vi-VN"/>
                        <a:t>1024 chiều</a:t>
                      </a:r>
                    </a:p>
                  </a:txBody>
                  <a:tcPr anchor="ctr"/>
                </a:tc>
                <a:extLst>
                  <a:ext uri="{0D108BD9-81ED-4DB2-BD59-A6C34878D82A}">
                    <a16:rowId xmlns:a16="http://schemas.microsoft.com/office/drawing/2014/main" val="3796836643"/>
                  </a:ext>
                </a:extLst>
              </a:tr>
              <a:tr h="0">
                <a:tc>
                  <a:txBody>
                    <a:bodyPr/>
                    <a:lstStyle/>
                    <a:p>
                      <a:pPr>
                        <a:buNone/>
                      </a:pPr>
                      <a:r>
                        <a:rPr lang="vi-VN" b="1"/>
                        <a:t>Điểm mạnh</a:t>
                      </a:r>
                    </a:p>
                  </a:txBody>
                  <a:tcPr anchor="ctr"/>
                </a:tc>
                <a:tc>
                  <a:txBody>
                    <a:bodyPr/>
                    <a:lstStyle/>
                    <a:p>
                      <a:pPr>
                        <a:buNone/>
                      </a:pPr>
                      <a:r>
                        <a:rPr lang="vi-VN"/>
                        <a:t>Hiểu tiếng Việt tốt, phù hợp xử lý transcript VI</a:t>
                      </a:r>
                    </a:p>
                  </a:txBody>
                  <a:tcPr anchor="ctr"/>
                </a:tc>
                <a:tc>
                  <a:txBody>
                    <a:bodyPr/>
                    <a:lstStyle/>
                    <a:p>
                      <a:pPr>
                        <a:buNone/>
                      </a:pPr>
                      <a:r>
                        <a:rPr lang="vi-VN"/>
                        <a:t>Nhẹ, chạy nhanh, phù hợp thử nghiệm / baseline</a:t>
                      </a:r>
                    </a:p>
                  </a:txBody>
                  <a:tcPr anchor="ctr"/>
                </a:tc>
                <a:tc>
                  <a:txBody>
                    <a:bodyPr/>
                    <a:lstStyle/>
                    <a:p>
                      <a:pPr>
                        <a:buNone/>
                      </a:pPr>
                      <a:r>
                        <a:rPr lang="vi-VN"/>
                        <a:t>Mạnh cho semantic search, RAG, truy hồi văn bản dài</a:t>
                      </a:r>
                    </a:p>
                  </a:txBody>
                  <a:tcPr anchor="ctr"/>
                </a:tc>
                <a:extLst>
                  <a:ext uri="{0D108BD9-81ED-4DB2-BD59-A6C34878D82A}">
                    <a16:rowId xmlns:a16="http://schemas.microsoft.com/office/drawing/2014/main" val="2023073690"/>
                  </a:ext>
                </a:extLst>
              </a:tr>
              <a:tr h="0">
                <a:tc>
                  <a:txBody>
                    <a:bodyPr/>
                    <a:lstStyle/>
                    <a:p>
                      <a:pPr>
                        <a:buNone/>
                      </a:pPr>
                      <a:r>
                        <a:rPr lang="vi-VN" b="1"/>
                        <a:t>Điểm yếu</a:t>
                      </a:r>
                    </a:p>
                  </a:txBody>
                  <a:tcPr anchor="ctr"/>
                </a:tc>
                <a:tc>
                  <a:txBody>
                    <a:bodyPr/>
                    <a:lstStyle/>
                    <a:p>
                      <a:pPr>
                        <a:buNone/>
                      </a:pPr>
                      <a:r>
                        <a:rPr lang="vi-VN"/>
                        <a:t>Không tối ưu sẵn cho sentence embedding nếu chưa fine-tune</a:t>
                      </a:r>
                    </a:p>
                  </a:txBody>
                  <a:tcPr anchor="ctr"/>
                </a:tc>
                <a:tc>
                  <a:txBody>
                    <a:bodyPr/>
                    <a:lstStyle/>
                    <a:p>
                      <a:pPr>
                        <a:buNone/>
                      </a:pPr>
                      <a:r>
                        <a:rPr lang="vi-VN"/>
                        <a:t>Độ chính xác có thể thấp hơn model lớn</a:t>
                      </a:r>
                    </a:p>
                  </a:txBody>
                  <a:tcPr anchor="ctr"/>
                </a:tc>
                <a:tc>
                  <a:txBody>
                    <a:bodyPr/>
                    <a:lstStyle/>
                    <a:p>
                      <a:pPr>
                        <a:buNone/>
                      </a:pPr>
                      <a:r>
                        <a:rPr lang="vi-VN"/>
                        <a:t>Nặng hơn, tốn RAM/VRAM hơn</a:t>
                      </a:r>
                    </a:p>
                  </a:txBody>
                  <a:tcPr anchor="ctr"/>
                </a:tc>
                <a:extLst>
                  <a:ext uri="{0D108BD9-81ED-4DB2-BD59-A6C34878D82A}">
                    <a16:rowId xmlns:a16="http://schemas.microsoft.com/office/drawing/2014/main" val="381596355"/>
                  </a:ext>
                </a:extLst>
              </a:tr>
              <a:tr h="0">
                <a:tc>
                  <a:txBody>
                    <a:bodyPr/>
                    <a:lstStyle/>
                    <a:p>
                      <a:pPr>
                        <a:buNone/>
                      </a:pPr>
                      <a:r>
                        <a:rPr lang="vi-VN" b="1"/>
                        <a:t>Tốc độ</a:t>
                      </a:r>
                    </a:p>
                  </a:txBody>
                  <a:tcPr anchor="ctr"/>
                </a:tc>
                <a:tc>
                  <a:txBody>
                    <a:bodyPr/>
                    <a:lstStyle/>
                    <a:p>
                      <a:pPr>
                        <a:buNone/>
                      </a:pPr>
                      <a:r>
                        <a:rPr lang="vi-VN"/>
                        <a:t>Trung bình</a:t>
                      </a:r>
                    </a:p>
                  </a:txBody>
                  <a:tcPr anchor="ctr"/>
                </a:tc>
                <a:tc>
                  <a:txBody>
                    <a:bodyPr/>
                    <a:lstStyle/>
                    <a:p>
                      <a:pPr>
                        <a:buNone/>
                      </a:pPr>
                      <a:r>
                        <a:rPr lang="vi-VN"/>
                        <a:t>Nhanh</a:t>
                      </a:r>
                    </a:p>
                  </a:txBody>
                  <a:tcPr anchor="ctr"/>
                </a:tc>
                <a:tc>
                  <a:txBody>
                    <a:bodyPr/>
                    <a:lstStyle/>
                    <a:p>
                      <a:pPr>
                        <a:buNone/>
                      </a:pPr>
                      <a:r>
                        <a:rPr lang="vi-VN"/>
                        <a:t>Chậm hơn</a:t>
                      </a:r>
                    </a:p>
                  </a:txBody>
                  <a:tcPr anchor="ctr"/>
                </a:tc>
                <a:extLst>
                  <a:ext uri="{0D108BD9-81ED-4DB2-BD59-A6C34878D82A}">
                    <a16:rowId xmlns:a16="http://schemas.microsoft.com/office/drawing/2014/main" val="2465838784"/>
                  </a:ext>
                </a:extLst>
              </a:tr>
              <a:tr h="0">
                <a:tc>
                  <a:txBody>
                    <a:bodyPr/>
                    <a:lstStyle/>
                    <a:p>
                      <a:pPr>
                        <a:buNone/>
                      </a:pPr>
                      <a:r>
                        <a:rPr lang="vi-VN" b="1"/>
                        <a:t>Phù hợp cho</a:t>
                      </a:r>
                    </a:p>
                  </a:txBody>
                  <a:tcPr anchor="ctr"/>
                </a:tc>
                <a:tc>
                  <a:txBody>
                    <a:bodyPr/>
                    <a:lstStyle/>
                    <a:p>
                      <a:pPr>
                        <a:buNone/>
                      </a:pPr>
                      <a:r>
                        <a:rPr lang="vi-VN"/>
                        <a:t>Embedding block tiếng Việt, phân đoạn chủ đề</a:t>
                      </a:r>
                    </a:p>
                  </a:txBody>
                  <a:tcPr anchor="ctr"/>
                </a:tc>
                <a:tc>
                  <a:txBody>
                    <a:bodyPr/>
                    <a:lstStyle/>
                    <a:p>
                      <a:pPr>
                        <a:buNone/>
                      </a:pPr>
                      <a:r>
                        <a:rPr lang="vi-VN"/>
                        <a:t>So sánh hiệu năng, chạy nhanh</a:t>
                      </a:r>
                    </a:p>
                  </a:txBody>
                  <a:tcPr anchor="ctr"/>
                </a:tc>
                <a:tc>
                  <a:txBody>
                    <a:bodyPr/>
                    <a:lstStyle/>
                    <a:p>
                      <a:pPr>
                        <a:buNone/>
                      </a:pPr>
                      <a:r>
                        <a:rPr lang="vi-VN"/>
                        <a:t>Retrieval chính cho RAG, tìm đoạn liên quan</a:t>
                      </a:r>
                    </a:p>
                  </a:txBody>
                  <a:tcPr anchor="ctr"/>
                </a:tc>
                <a:extLst>
                  <a:ext uri="{0D108BD9-81ED-4DB2-BD59-A6C34878D82A}">
                    <a16:rowId xmlns:a16="http://schemas.microsoft.com/office/drawing/2014/main" val="2566500677"/>
                  </a:ext>
                </a:extLst>
              </a:tr>
              <a:tr h="0">
                <a:tc>
                  <a:txBody>
                    <a:bodyPr/>
                    <a:lstStyle/>
                    <a:p>
                      <a:pPr>
                        <a:buNone/>
                      </a:pPr>
                      <a:r>
                        <a:rPr lang="vi-VN" b="1"/>
                        <a:t>Vai trò trong pipeline</a:t>
                      </a:r>
                    </a:p>
                  </a:txBody>
                  <a:tcPr anchor="ctr"/>
                </a:tc>
                <a:tc>
                  <a:txBody>
                    <a:bodyPr/>
                    <a:lstStyle/>
                    <a:p>
                      <a:pPr>
                        <a:buNone/>
                      </a:pPr>
                      <a:r>
                        <a:rPr lang="vi-VN"/>
                        <a:t>Model tiếng Việt chuyên biệt</a:t>
                      </a:r>
                    </a:p>
                  </a:txBody>
                  <a:tcPr anchor="ctr"/>
                </a:tc>
                <a:tc>
                  <a:txBody>
                    <a:bodyPr/>
                    <a:lstStyle/>
                    <a:p>
                      <a:pPr>
                        <a:buNone/>
                      </a:pPr>
                      <a:r>
                        <a:rPr lang="vi-VN"/>
                        <a:t>Model nhẹ để đối chiếu</a:t>
                      </a:r>
                    </a:p>
                  </a:txBody>
                  <a:tcPr anchor="ctr"/>
                </a:tc>
                <a:tc>
                  <a:txBody>
                    <a:bodyPr/>
                    <a:lstStyle/>
                    <a:p>
                      <a:pPr>
                        <a:buNone/>
                      </a:pPr>
                      <a:r>
                        <a:rPr lang="vi-VN"/>
                        <a:t>Model mạnh để lấy kết quả tốt nhất</a:t>
                      </a:r>
                    </a:p>
                  </a:txBody>
                  <a:tcPr anchor="ctr"/>
                </a:tc>
                <a:extLst>
                  <a:ext uri="{0D108BD9-81ED-4DB2-BD59-A6C34878D82A}">
                    <a16:rowId xmlns:a16="http://schemas.microsoft.com/office/drawing/2014/main" val="1662636455"/>
                  </a:ext>
                </a:extLst>
              </a:tr>
            </a:tbl>
          </a:graphicData>
        </a:graphic>
      </p:graphicFrame>
    </p:spTree>
    <p:extLst>
      <p:ext uri="{BB962C8B-B14F-4D97-AF65-F5344CB8AC3E}">
        <p14:creationId xmlns:p14="http://schemas.microsoft.com/office/powerpoint/2010/main" val="1450992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9" name="Google Shape;289;g3e79392c004_0_157"/>
          <p:cNvSpPr/>
          <p:nvPr/>
        </p:nvSpPr>
        <p:spPr>
          <a:xfrm>
            <a:off x="315350" y="1879725"/>
            <a:ext cx="1685100" cy="1245600"/>
          </a:xfrm>
          <a:prstGeom prst="roundRect">
            <a:avLst>
              <a:gd name="adj" fmla="val 16667"/>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PhoBERT</a:t>
            </a:r>
            <a:endParaRPr sz="2000" b="0" i="0" u="none" strike="noStrike" cap="none">
              <a:solidFill>
                <a:srgbClr val="153898"/>
              </a:solidFill>
              <a:latin typeface="Play"/>
              <a:ea typeface="Play"/>
              <a:cs typeface="Play"/>
              <a:sym typeface="Play"/>
            </a:endParaRPr>
          </a:p>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(Teacher) </a:t>
            </a:r>
            <a:endParaRPr sz="2000" b="0" i="0" u="none" strike="noStrike" cap="none">
              <a:solidFill>
                <a:srgbClr val="153898"/>
              </a:solidFill>
              <a:latin typeface="Play"/>
              <a:ea typeface="Play"/>
              <a:cs typeface="Play"/>
              <a:sym typeface="Play"/>
            </a:endParaRPr>
          </a:p>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(12 Layers)  </a:t>
            </a:r>
            <a:endParaRPr sz="2000" b="0" i="0" u="none" strike="noStrike" cap="none">
              <a:solidFill>
                <a:srgbClr val="153898"/>
              </a:solidFill>
              <a:latin typeface="Play"/>
              <a:ea typeface="Play"/>
              <a:cs typeface="Play"/>
              <a:sym typeface="Play"/>
            </a:endParaRPr>
          </a:p>
        </p:txBody>
      </p:sp>
      <p:pic>
        <p:nvPicPr>
          <p:cNvPr id="290" name="Google Shape;290;g3e79392c004_0_157"/>
          <p:cNvPicPr preferRelativeResize="0"/>
          <p:nvPr/>
        </p:nvPicPr>
        <p:blipFill rotWithShape="1">
          <a:blip r:embed="rId3">
            <a:alphaModFix/>
          </a:blip>
          <a:srcRect/>
          <a:stretch/>
        </p:blipFill>
        <p:spPr>
          <a:xfrm>
            <a:off x="623675" y="1449175"/>
            <a:ext cx="1068450" cy="586425"/>
          </a:xfrm>
          <a:prstGeom prst="rect">
            <a:avLst/>
          </a:prstGeom>
          <a:noFill/>
          <a:ln>
            <a:noFill/>
          </a:ln>
        </p:spPr>
      </p:pic>
      <p:sp>
        <p:nvSpPr>
          <p:cNvPr id="291" name="Google Shape;291;g3e79392c004_0_157"/>
          <p:cNvSpPr/>
          <p:nvPr/>
        </p:nvSpPr>
        <p:spPr>
          <a:xfrm>
            <a:off x="315350" y="3983025"/>
            <a:ext cx="1685100" cy="1245600"/>
          </a:xfrm>
          <a:prstGeom prst="roundRect">
            <a:avLst>
              <a:gd name="adj" fmla="val 16667"/>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ROBERTa (Student) </a:t>
            </a:r>
            <a:endParaRPr sz="2000" b="0" i="0" u="none" strike="noStrike" cap="none">
              <a:solidFill>
                <a:srgbClr val="153898"/>
              </a:solidFill>
              <a:latin typeface="Play"/>
              <a:ea typeface="Play"/>
              <a:cs typeface="Play"/>
              <a:sym typeface="Play"/>
            </a:endParaRPr>
          </a:p>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(6 Layers) </a:t>
            </a:r>
            <a:endParaRPr sz="2000" b="0" i="0" u="none" strike="noStrike" cap="none">
              <a:solidFill>
                <a:srgbClr val="153898"/>
              </a:solidFill>
              <a:latin typeface="Play"/>
              <a:ea typeface="Play"/>
              <a:cs typeface="Play"/>
              <a:sym typeface="Play"/>
            </a:endParaRPr>
          </a:p>
        </p:txBody>
      </p:sp>
      <p:pic>
        <p:nvPicPr>
          <p:cNvPr id="292" name="Google Shape;292;g3e79392c004_0_157"/>
          <p:cNvPicPr preferRelativeResize="0"/>
          <p:nvPr/>
        </p:nvPicPr>
        <p:blipFill rotWithShape="1">
          <a:blip r:embed="rId4">
            <a:alphaModFix/>
          </a:blip>
          <a:srcRect/>
          <a:stretch/>
        </p:blipFill>
        <p:spPr>
          <a:xfrm>
            <a:off x="749925" y="3409900"/>
            <a:ext cx="815950" cy="815950"/>
          </a:xfrm>
          <a:prstGeom prst="rect">
            <a:avLst/>
          </a:prstGeom>
          <a:noFill/>
          <a:ln>
            <a:noFill/>
          </a:ln>
        </p:spPr>
      </p:pic>
      <p:sp>
        <p:nvSpPr>
          <p:cNvPr id="293" name="Google Shape;293;g3e79392c004_0_157"/>
          <p:cNvSpPr/>
          <p:nvPr/>
        </p:nvSpPr>
        <p:spPr>
          <a:xfrm>
            <a:off x="2433050" y="1883804"/>
            <a:ext cx="1685100" cy="1245600"/>
          </a:xfrm>
          <a:prstGeom prst="roundRect">
            <a:avLst>
              <a:gd name="adj" fmla="val 16667"/>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Teacher Embedding (d=768) </a:t>
            </a:r>
            <a:endParaRPr sz="2000" b="0" i="0" u="none" strike="noStrike" cap="none">
              <a:solidFill>
                <a:srgbClr val="153898"/>
              </a:solidFill>
              <a:latin typeface="Play"/>
              <a:ea typeface="Play"/>
              <a:cs typeface="Play"/>
              <a:sym typeface="Play"/>
            </a:endParaRPr>
          </a:p>
        </p:txBody>
      </p:sp>
      <p:pic>
        <p:nvPicPr>
          <p:cNvPr id="294" name="Google Shape;294;g3e79392c004_0_157"/>
          <p:cNvPicPr preferRelativeResize="0"/>
          <p:nvPr/>
        </p:nvPicPr>
        <p:blipFill rotWithShape="1">
          <a:blip r:embed="rId5">
            <a:alphaModFix/>
          </a:blip>
          <a:srcRect/>
          <a:stretch/>
        </p:blipFill>
        <p:spPr>
          <a:xfrm>
            <a:off x="3030508" y="1501367"/>
            <a:ext cx="490184" cy="490200"/>
          </a:xfrm>
          <a:prstGeom prst="rect">
            <a:avLst/>
          </a:prstGeom>
          <a:noFill/>
          <a:ln>
            <a:noFill/>
          </a:ln>
        </p:spPr>
      </p:pic>
      <p:cxnSp>
        <p:nvCxnSpPr>
          <p:cNvPr id="295" name="Google Shape;295;g3e79392c004_0_157"/>
          <p:cNvCxnSpPr>
            <a:stCxn id="289" idx="3"/>
            <a:endCxn id="293" idx="1"/>
          </p:cNvCxnSpPr>
          <p:nvPr/>
        </p:nvCxnSpPr>
        <p:spPr>
          <a:xfrm>
            <a:off x="2000450" y="2502525"/>
            <a:ext cx="432600" cy="4200"/>
          </a:xfrm>
          <a:prstGeom prst="straightConnector1">
            <a:avLst/>
          </a:prstGeom>
          <a:noFill/>
          <a:ln w="9525" cap="flat" cmpd="sng">
            <a:solidFill>
              <a:schemeClr val="dk2"/>
            </a:solidFill>
            <a:prstDash val="solid"/>
            <a:round/>
            <a:headEnd type="none" w="sm" len="sm"/>
            <a:tailEnd type="triangle" w="med" len="med"/>
          </a:ln>
        </p:spPr>
      </p:cxnSp>
      <p:sp>
        <p:nvSpPr>
          <p:cNvPr id="296" name="Google Shape;296;g3e79392c004_0_157"/>
          <p:cNvSpPr/>
          <p:nvPr/>
        </p:nvSpPr>
        <p:spPr>
          <a:xfrm>
            <a:off x="2433050" y="3987104"/>
            <a:ext cx="1685100" cy="1245600"/>
          </a:xfrm>
          <a:prstGeom prst="roundRect">
            <a:avLst>
              <a:gd name="adj" fmla="val 16667"/>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Student Embedding (d=768) </a:t>
            </a:r>
            <a:endParaRPr sz="2000" b="0" i="0" u="none" strike="noStrike" cap="none">
              <a:solidFill>
                <a:srgbClr val="153898"/>
              </a:solidFill>
              <a:latin typeface="Play"/>
              <a:ea typeface="Play"/>
              <a:cs typeface="Play"/>
              <a:sym typeface="Play"/>
            </a:endParaRPr>
          </a:p>
        </p:txBody>
      </p:sp>
      <p:pic>
        <p:nvPicPr>
          <p:cNvPr id="297" name="Google Shape;297;g3e79392c004_0_157"/>
          <p:cNvPicPr preferRelativeResize="0"/>
          <p:nvPr/>
        </p:nvPicPr>
        <p:blipFill rotWithShape="1">
          <a:blip r:embed="rId6">
            <a:alphaModFix/>
          </a:blip>
          <a:srcRect/>
          <a:stretch/>
        </p:blipFill>
        <p:spPr>
          <a:xfrm>
            <a:off x="3030500" y="3653329"/>
            <a:ext cx="490199" cy="474255"/>
          </a:xfrm>
          <a:prstGeom prst="rect">
            <a:avLst/>
          </a:prstGeom>
          <a:noFill/>
          <a:ln>
            <a:noFill/>
          </a:ln>
        </p:spPr>
      </p:pic>
      <p:cxnSp>
        <p:nvCxnSpPr>
          <p:cNvPr id="298" name="Google Shape;298;g3e79392c004_0_157"/>
          <p:cNvCxnSpPr>
            <a:stCxn id="291" idx="3"/>
            <a:endCxn id="296" idx="1"/>
          </p:cNvCxnSpPr>
          <p:nvPr/>
        </p:nvCxnSpPr>
        <p:spPr>
          <a:xfrm>
            <a:off x="2000450" y="4605825"/>
            <a:ext cx="432600" cy="4200"/>
          </a:xfrm>
          <a:prstGeom prst="straightConnector1">
            <a:avLst/>
          </a:prstGeom>
          <a:noFill/>
          <a:ln w="9525" cap="flat" cmpd="sng">
            <a:solidFill>
              <a:schemeClr val="dk2"/>
            </a:solidFill>
            <a:prstDash val="solid"/>
            <a:round/>
            <a:headEnd type="none" w="sm" len="sm"/>
            <a:tailEnd type="triangle" w="med" len="med"/>
          </a:ln>
        </p:spPr>
      </p:cxnSp>
      <p:sp>
        <p:nvSpPr>
          <p:cNvPr id="299" name="Google Shape;299;g3e79392c004_0_157"/>
          <p:cNvSpPr/>
          <p:nvPr/>
        </p:nvSpPr>
        <p:spPr>
          <a:xfrm>
            <a:off x="4775525" y="1883800"/>
            <a:ext cx="3536400" cy="7569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MLM Loss </a:t>
            </a:r>
            <a:endParaRPr sz="1400" b="0" i="0" u="none" strike="noStrike" cap="none">
              <a:solidFill>
                <a:srgbClr val="000000"/>
              </a:solidFill>
              <a:latin typeface="Play"/>
              <a:ea typeface="Play"/>
              <a:cs typeface="Play"/>
              <a:sym typeface="Play"/>
            </a:endParaRPr>
          </a:p>
        </p:txBody>
      </p:sp>
      <p:sp>
        <p:nvSpPr>
          <p:cNvPr id="300" name="Google Shape;300;g3e79392c004_0_157"/>
          <p:cNvSpPr/>
          <p:nvPr/>
        </p:nvSpPr>
        <p:spPr>
          <a:xfrm>
            <a:off x="4775525" y="3050550"/>
            <a:ext cx="3536400" cy="7569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MSE Loss </a:t>
            </a:r>
            <a:endParaRPr sz="1400" b="0" i="0" u="none" strike="noStrike" cap="none">
              <a:solidFill>
                <a:srgbClr val="000000"/>
              </a:solidFill>
              <a:latin typeface="Play"/>
              <a:ea typeface="Play"/>
              <a:cs typeface="Play"/>
              <a:sym typeface="Play"/>
            </a:endParaRPr>
          </a:p>
        </p:txBody>
      </p:sp>
      <p:sp>
        <p:nvSpPr>
          <p:cNvPr id="301" name="Google Shape;301;g3e79392c004_0_157"/>
          <p:cNvSpPr/>
          <p:nvPr/>
        </p:nvSpPr>
        <p:spPr>
          <a:xfrm>
            <a:off x="4775525" y="4325075"/>
            <a:ext cx="3536400" cy="7569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Cosine Similarity Loss </a:t>
            </a:r>
            <a:endParaRPr sz="2000" b="0" i="0" u="none" strike="noStrike" cap="none">
              <a:solidFill>
                <a:srgbClr val="153898"/>
              </a:solidFill>
              <a:latin typeface="Play"/>
              <a:ea typeface="Play"/>
              <a:cs typeface="Play"/>
              <a:sym typeface="Play"/>
            </a:endParaRPr>
          </a:p>
        </p:txBody>
      </p:sp>
      <p:sp>
        <p:nvSpPr>
          <p:cNvPr id="302" name="Google Shape;302;g3e79392c004_0_157"/>
          <p:cNvSpPr/>
          <p:nvPr/>
        </p:nvSpPr>
        <p:spPr>
          <a:xfrm>
            <a:off x="8684088" y="3096300"/>
            <a:ext cx="548100" cy="665400"/>
          </a:xfrm>
          <a:prstGeom prst="rightArrow">
            <a:avLst>
              <a:gd name="adj1" fmla="val 50000"/>
              <a:gd name="adj2" fmla="val 50000"/>
            </a:avLst>
          </a:prstGeom>
          <a:solidFill>
            <a:srgbClr val="15389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ay"/>
              <a:ea typeface="Play"/>
              <a:cs typeface="Play"/>
              <a:sym typeface="Play"/>
            </a:endParaRPr>
          </a:p>
        </p:txBody>
      </p:sp>
      <p:sp>
        <p:nvSpPr>
          <p:cNvPr id="303" name="Google Shape;303;g3e79392c004_0_157"/>
          <p:cNvSpPr/>
          <p:nvPr/>
        </p:nvSpPr>
        <p:spPr>
          <a:xfrm>
            <a:off x="9604350" y="2429847"/>
            <a:ext cx="2296800" cy="1998300"/>
          </a:xfrm>
          <a:prstGeom prst="roundRect">
            <a:avLst>
              <a:gd name="adj" fmla="val 16667"/>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VN" sz="2000" b="0" i="0" u="none" strike="noStrike" cap="none">
                <a:solidFill>
                  <a:srgbClr val="153898"/>
                </a:solidFill>
                <a:latin typeface="Play"/>
                <a:ea typeface="Play"/>
                <a:cs typeface="Play"/>
                <a:sym typeface="Play"/>
              </a:rPr>
              <a:t>Optimized ROBERTa Student </a:t>
            </a:r>
            <a:endParaRPr sz="2000" b="0" i="0" u="none" strike="noStrike" cap="none">
              <a:solidFill>
                <a:srgbClr val="153898"/>
              </a:solidFill>
              <a:latin typeface="Play"/>
              <a:ea typeface="Play"/>
              <a:cs typeface="Play"/>
              <a:sym typeface="Play"/>
            </a:endParaRPr>
          </a:p>
        </p:txBody>
      </p:sp>
      <p:pic>
        <p:nvPicPr>
          <p:cNvPr id="304" name="Google Shape;304;g3e79392c004_0_157"/>
          <p:cNvPicPr preferRelativeResize="0"/>
          <p:nvPr/>
        </p:nvPicPr>
        <p:blipFill rotWithShape="1">
          <a:blip r:embed="rId6">
            <a:alphaModFix/>
          </a:blip>
          <a:srcRect/>
          <a:stretch/>
        </p:blipFill>
        <p:spPr>
          <a:xfrm>
            <a:off x="10415150" y="1867547"/>
            <a:ext cx="815950" cy="789401"/>
          </a:xfrm>
          <a:prstGeom prst="rect">
            <a:avLst/>
          </a:prstGeom>
          <a:noFill/>
          <a:ln>
            <a:noFill/>
          </a:ln>
        </p:spPr>
      </p:pic>
      <p:sp>
        <p:nvSpPr>
          <p:cNvPr id="305" name="Google Shape;305;g3e79392c004_0_157"/>
          <p:cNvSpPr/>
          <p:nvPr/>
        </p:nvSpPr>
        <p:spPr>
          <a:xfrm>
            <a:off x="4118138" y="3225550"/>
            <a:ext cx="548100" cy="665400"/>
          </a:xfrm>
          <a:prstGeom prst="rightArrow">
            <a:avLst>
              <a:gd name="adj1" fmla="val 50000"/>
              <a:gd name="adj2" fmla="val 50000"/>
            </a:avLst>
          </a:prstGeom>
          <a:solidFill>
            <a:srgbClr val="15389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ay"/>
              <a:ea typeface="Play"/>
              <a:cs typeface="Play"/>
              <a:sym typeface="Play"/>
            </a:endParaRPr>
          </a:p>
        </p:txBody>
      </p:sp>
      <p:sp>
        <p:nvSpPr>
          <p:cNvPr id="4" name="Title 2">
            <a:extLst>
              <a:ext uri="{FF2B5EF4-FFF2-40B4-BE49-F238E27FC236}">
                <a16:creationId xmlns:a16="http://schemas.microsoft.com/office/drawing/2014/main" id="{C5A6413B-9B9E-08ED-7A12-F0A2E72D4255}"/>
              </a:ext>
            </a:extLst>
          </p:cNvPr>
          <p:cNvSpPr>
            <a:spLocks noGrp="1"/>
          </p:cNvSpPr>
          <p:nvPr>
            <p:ph type="title"/>
          </p:nvPr>
        </p:nvSpPr>
        <p:spPr>
          <a:xfrm>
            <a:off x="193040" y="-240399"/>
            <a:ext cx="13289280" cy="1325563"/>
          </a:xfrm>
        </p:spPr>
        <p:txBody>
          <a:bodyPr>
            <a:normAutofit/>
          </a:bodyPr>
          <a:lstStyle/>
          <a:p>
            <a:r>
              <a:rPr lang="vi-VN" sz="3200"/>
              <a:t>RoBERTa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e7be3aed06_0_55"/>
          <p:cNvSpPr txBox="1">
            <a:spLocks noGrp="1"/>
          </p:cNvSpPr>
          <p:nvPr>
            <p:ph type="title"/>
          </p:nvPr>
        </p:nvSpPr>
        <p:spPr>
          <a:xfrm>
            <a:off x="315321" y="765700"/>
            <a:ext cx="10964400" cy="490200"/>
          </a:xfrm>
          <a:prstGeom prst="rect">
            <a:avLst/>
          </a:prstGeom>
          <a:noFill/>
          <a:ln>
            <a:noFill/>
          </a:ln>
        </p:spPr>
        <p:txBody>
          <a:bodyPr spcFirstLastPara="1" wrap="square" lIns="51925" tIns="25950" rIns="51925" bIns="25950" anchor="ctr" anchorCtr="0">
            <a:noAutofit/>
          </a:bodyPr>
          <a:lstStyle/>
          <a:p>
            <a:pPr marL="0" lvl="0" indent="0" algn="l" rtl="0">
              <a:lnSpc>
                <a:spcPct val="90000"/>
              </a:lnSpc>
              <a:spcBef>
                <a:spcPts val="0"/>
              </a:spcBef>
              <a:spcAft>
                <a:spcPts val="0"/>
              </a:spcAft>
              <a:buClr>
                <a:schemeClr val="dk1"/>
              </a:buClr>
              <a:buSzPts val="1100"/>
              <a:buFont typeface="Arial"/>
              <a:buNone/>
            </a:pPr>
            <a:r>
              <a:rPr lang="en-VN" sz="1600" b="0">
                <a:latin typeface="Play"/>
                <a:ea typeface="Play"/>
                <a:cs typeface="Play"/>
                <a:sym typeface="Play"/>
              </a:rPr>
              <a:t>Dựa trên đánh giá thực nghiệm trên 1000 mẫu dữ liệu từ bộ dữ liệu VietNews, mô hình đạt được các chỉ số ấn tượng:  </a:t>
            </a:r>
            <a:endParaRPr sz="2000" b="0"/>
          </a:p>
        </p:txBody>
      </p:sp>
      <p:graphicFrame>
        <p:nvGraphicFramePr>
          <p:cNvPr id="319" name="Google Shape;319;g3e7be3aed06_0_55"/>
          <p:cNvGraphicFramePr/>
          <p:nvPr/>
        </p:nvGraphicFramePr>
        <p:xfrm>
          <a:off x="1948050" y="1440750"/>
          <a:ext cx="8295900" cy="3976500"/>
        </p:xfrm>
        <a:graphic>
          <a:graphicData uri="http://schemas.openxmlformats.org/drawingml/2006/table">
            <a:tbl>
              <a:tblPr>
                <a:noFill/>
                <a:tableStyleId>{C59BCFFA-FBAA-4B6E-87EC-B02885E3A683}</a:tableStyleId>
              </a:tblPr>
              <a:tblGrid>
                <a:gridCol w="1108025">
                  <a:extLst>
                    <a:ext uri="{9D8B030D-6E8A-4147-A177-3AD203B41FA5}">
                      <a16:colId xmlns:a16="http://schemas.microsoft.com/office/drawing/2014/main" val="20000"/>
                    </a:ext>
                  </a:extLst>
                </a:gridCol>
                <a:gridCol w="710275">
                  <a:extLst>
                    <a:ext uri="{9D8B030D-6E8A-4147-A177-3AD203B41FA5}">
                      <a16:colId xmlns:a16="http://schemas.microsoft.com/office/drawing/2014/main" val="20001"/>
                    </a:ext>
                  </a:extLst>
                </a:gridCol>
                <a:gridCol w="6477600">
                  <a:extLst>
                    <a:ext uri="{9D8B030D-6E8A-4147-A177-3AD203B41FA5}">
                      <a16:colId xmlns:a16="http://schemas.microsoft.com/office/drawing/2014/main" val="20002"/>
                    </a:ext>
                  </a:extLst>
                </a:gridCol>
              </a:tblGrid>
              <a:tr h="994125">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ROUGE-1</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0.768</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Độ khớp về từ khóa chính cực kỳ cao.</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994125">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ROUGE-2</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0.498</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Đảm bảo tính mạch lạc của các cụm từ.</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994125">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ROUGE-L</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0.524</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Cấu trúc câu trích xuất bám sát nội dung gốc.</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94125">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F1-Score</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0.811</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600"/>
                        <a:buFont typeface="Arial"/>
                        <a:buNone/>
                      </a:pPr>
                      <a:r>
                        <a:rPr lang="en-VN" sz="1600" u="none" strike="noStrike" cap="none">
                          <a:solidFill>
                            <a:srgbClr val="153898"/>
                          </a:solidFill>
                          <a:latin typeface="Play"/>
                          <a:ea typeface="Play"/>
                          <a:cs typeface="Play"/>
                          <a:sym typeface="Play"/>
                        </a:rPr>
                        <a:t>Sự cân bằng giữa độ chính xác và khả năng bao quát thông tin.</a:t>
                      </a:r>
                      <a:endParaRPr sz="1600" u="none" strike="noStrike" cap="none">
                        <a:solidFill>
                          <a:srgbClr val="153898"/>
                        </a:solidFill>
                        <a:latin typeface="Play"/>
                        <a:ea typeface="Play"/>
                        <a:cs typeface="Play"/>
                        <a:sym typeface="Play"/>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 name="Title 2">
            <a:extLst>
              <a:ext uri="{FF2B5EF4-FFF2-40B4-BE49-F238E27FC236}">
                <a16:creationId xmlns:a16="http://schemas.microsoft.com/office/drawing/2014/main" id="{0E372283-8EC5-7BEF-08EF-10E7573830F5}"/>
              </a:ext>
            </a:extLst>
          </p:cNvPr>
          <p:cNvSpPr txBox="1">
            <a:spLocks/>
          </p:cNvSpPr>
          <p:nvPr/>
        </p:nvSpPr>
        <p:spPr>
          <a:xfrm>
            <a:off x="193040" y="-240399"/>
            <a:ext cx="1328928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53898"/>
              </a:buClr>
              <a:buSzPts val="1800"/>
              <a:buFont typeface="Bai Jamjuree"/>
              <a:buNone/>
              <a:defRPr sz="4400" b="1" i="0" u="none" strike="noStrike" cap="none">
                <a:solidFill>
                  <a:srgbClr val="153898"/>
                </a:solidFill>
                <a:latin typeface="Bai Jamjuree"/>
                <a:ea typeface="Bai Jamjuree"/>
                <a:cs typeface="Bai Jamjuree"/>
                <a:sym typeface="Bai Jamjure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vi-VN" sz="3200"/>
              <a:t>RoBERTa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a:extLst>
              <a:ext uri="{FF2B5EF4-FFF2-40B4-BE49-F238E27FC236}">
                <a16:creationId xmlns:a16="http://schemas.microsoft.com/office/drawing/2014/main" id="{EFDD5F94-4F19-A47C-7931-5441131DD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75" y="1095375"/>
            <a:ext cx="8477250" cy="46672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2">
            <a:extLst>
              <a:ext uri="{FF2B5EF4-FFF2-40B4-BE49-F238E27FC236}">
                <a16:creationId xmlns:a16="http://schemas.microsoft.com/office/drawing/2014/main" id="{14A07497-DEB2-4647-BC67-B83B10BF01F1}"/>
              </a:ext>
            </a:extLst>
          </p:cNvPr>
          <p:cNvSpPr>
            <a:spLocks noGrp="1"/>
          </p:cNvSpPr>
          <p:nvPr>
            <p:ph type="title"/>
          </p:nvPr>
        </p:nvSpPr>
        <p:spPr>
          <a:xfrm>
            <a:off x="436880" y="287921"/>
            <a:ext cx="13289280" cy="1325563"/>
          </a:xfrm>
        </p:spPr>
        <p:txBody>
          <a:bodyPr>
            <a:normAutofit/>
          </a:bodyPr>
          <a:lstStyle/>
          <a:p>
            <a:r>
              <a:rPr lang="vi-VN" sz="3200"/>
              <a:t>RoBERTa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334" name="Google Shape;334;g3e7be3aed06_0_68"/>
          <p:cNvPicPr preferRelativeResize="0"/>
          <p:nvPr/>
        </p:nvPicPr>
        <p:blipFill rotWithShape="1">
          <a:blip r:embed="rId3">
            <a:alphaModFix/>
          </a:blip>
          <a:srcRect r="1497"/>
          <a:stretch/>
        </p:blipFill>
        <p:spPr>
          <a:xfrm>
            <a:off x="2303750" y="1668985"/>
            <a:ext cx="6986750" cy="4143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B2DEC1F-8F3E-169C-538C-0F179023747A}"/>
              </a:ext>
            </a:extLst>
          </p:cNvPr>
          <p:cNvGraphicFramePr>
            <a:graphicFrameLocks noGrp="1"/>
          </p:cNvGraphicFramePr>
          <p:nvPr>
            <p:extLst>
              <p:ext uri="{D42A27DB-BD31-4B8C-83A1-F6EECF244321}">
                <p14:modId xmlns:p14="http://schemas.microsoft.com/office/powerpoint/2010/main" val="598391140"/>
              </p:ext>
            </p:extLst>
          </p:nvPr>
        </p:nvGraphicFramePr>
        <p:xfrm>
          <a:off x="680085" y="919639"/>
          <a:ext cx="5223509" cy="2281430"/>
        </p:xfrm>
        <a:graphic>
          <a:graphicData uri="http://schemas.openxmlformats.org/drawingml/2006/table">
            <a:tbl>
              <a:tblPr firstRow="1" firstCol="1" bandRow="1">
                <a:tableStyleId>{C59BCFFA-FBAA-4B6E-87EC-B02885E3A683}</a:tableStyleId>
              </a:tblPr>
              <a:tblGrid>
                <a:gridCol w="1020445">
                  <a:extLst>
                    <a:ext uri="{9D8B030D-6E8A-4147-A177-3AD203B41FA5}">
                      <a16:colId xmlns:a16="http://schemas.microsoft.com/office/drawing/2014/main" val="1487880380"/>
                    </a:ext>
                  </a:extLst>
                </a:gridCol>
                <a:gridCol w="1050766">
                  <a:extLst>
                    <a:ext uri="{9D8B030D-6E8A-4147-A177-3AD203B41FA5}">
                      <a16:colId xmlns:a16="http://schemas.microsoft.com/office/drawing/2014/main" val="3726858015"/>
                    </a:ext>
                  </a:extLst>
                </a:gridCol>
                <a:gridCol w="1050766">
                  <a:extLst>
                    <a:ext uri="{9D8B030D-6E8A-4147-A177-3AD203B41FA5}">
                      <a16:colId xmlns:a16="http://schemas.microsoft.com/office/drawing/2014/main" val="286954294"/>
                    </a:ext>
                  </a:extLst>
                </a:gridCol>
                <a:gridCol w="1050766">
                  <a:extLst>
                    <a:ext uri="{9D8B030D-6E8A-4147-A177-3AD203B41FA5}">
                      <a16:colId xmlns:a16="http://schemas.microsoft.com/office/drawing/2014/main" val="1238119145"/>
                    </a:ext>
                  </a:extLst>
                </a:gridCol>
                <a:gridCol w="1050766">
                  <a:extLst>
                    <a:ext uri="{9D8B030D-6E8A-4147-A177-3AD203B41FA5}">
                      <a16:colId xmlns:a16="http://schemas.microsoft.com/office/drawing/2014/main" val="3036426277"/>
                    </a:ext>
                  </a:extLst>
                </a:gridCol>
              </a:tblGrid>
              <a:tr h="0">
                <a:tc>
                  <a:txBody>
                    <a:bodyPr/>
                    <a:lstStyle/>
                    <a:p>
                      <a:pPr marL="55245">
                        <a:lnSpc>
                          <a:spcPct val="115000"/>
                        </a:lnSpc>
                        <a:buNone/>
                      </a:pPr>
                      <a:r>
                        <a:rPr lang="vi-VN" sz="1300">
                          <a:effectLst/>
                        </a:rPr>
                        <a:t>Mô hình</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Số block</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Số topic</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Số block trung bình/topic</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Độ dài topic trung bình</a:t>
                      </a:r>
                      <a:endParaRPr lang="vi-VN" sz="1300">
                        <a:effectLst/>
                        <a:latin typeface="Times New Roman" panose="02020603050405020304" pitchFamily="18" charset="0"/>
                        <a:ea typeface="Times New Roman" panose="02020603050405020304" pitchFamily="18" charset="0"/>
                      </a:endParaRPr>
                    </a:p>
                  </a:txBody>
                  <a:tcPr marL="38100" marR="38100" marT="38100" marB="38100"/>
                </a:tc>
                <a:extLst>
                  <a:ext uri="{0D108BD9-81ED-4DB2-BD59-A6C34878D82A}">
                    <a16:rowId xmlns:a16="http://schemas.microsoft.com/office/drawing/2014/main" val="1150613410"/>
                  </a:ext>
                </a:extLst>
              </a:tr>
              <a:tr h="0">
                <a:tc>
                  <a:txBody>
                    <a:bodyPr/>
                    <a:lstStyle/>
                    <a:p>
                      <a:pPr marL="55245">
                        <a:lnSpc>
                          <a:spcPct val="115000"/>
                        </a:lnSpc>
                        <a:buNone/>
                      </a:pPr>
                      <a:r>
                        <a:rPr lang="vi-VN" sz="1300">
                          <a:effectLst/>
                        </a:rPr>
                        <a:t>vinai/phobert-base</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17</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3</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5.67</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6814.67 ký tự</a:t>
                      </a:r>
                      <a:endParaRPr lang="vi-VN" sz="1300">
                        <a:effectLst/>
                        <a:latin typeface="Times New Roman" panose="02020603050405020304" pitchFamily="18" charset="0"/>
                        <a:ea typeface="Times New Roman" panose="02020603050405020304" pitchFamily="18" charset="0"/>
                      </a:endParaRPr>
                    </a:p>
                  </a:txBody>
                  <a:tcPr marL="38100" marR="38100" marT="38100" marB="38100"/>
                </a:tc>
                <a:extLst>
                  <a:ext uri="{0D108BD9-81ED-4DB2-BD59-A6C34878D82A}">
                    <a16:rowId xmlns:a16="http://schemas.microsoft.com/office/drawing/2014/main" val="4052080640"/>
                  </a:ext>
                </a:extLst>
              </a:tr>
              <a:tr h="0">
                <a:tc>
                  <a:txBody>
                    <a:bodyPr/>
                    <a:lstStyle/>
                    <a:p>
                      <a:pPr marL="55245">
                        <a:lnSpc>
                          <a:spcPct val="115000"/>
                        </a:lnSpc>
                        <a:buNone/>
                      </a:pPr>
                      <a:r>
                        <a:rPr lang="vi-VN" sz="1300">
                          <a:effectLst/>
                        </a:rPr>
                        <a:t>BGE-M3</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17</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9</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1.89</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2270.89 ký tự</a:t>
                      </a:r>
                      <a:endParaRPr lang="vi-VN" sz="1300">
                        <a:effectLst/>
                        <a:latin typeface="Times New Roman" panose="02020603050405020304" pitchFamily="18" charset="0"/>
                        <a:ea typeface="Times New Roman" panose="02020603050405020304" pitchFamily="18" charset="0"/>
                      </a:endParaRPr>
                    </a:p>
                  </a:txBody>
                  <a:tcPr marL="38100" marR="38100" marT="38100" marB="38100"/>
                </a:tc>
                <a:extLst>
                  <a:ext uri="{0D108BD9-81ED-4DB2-BD59-A6C34878D82A}">
                    <a16:rowId xmlns:a16="http://schemas.microsoft.com/office/drawing/2014/main" val="3416592705"/>
                  </a:ext>
                </a:extLst>
              </a:tr>
              <a:tr h="0">
                <a:tc>
                  <a:txBody>
                    <a:bodyPr/>
                    <a:lstStyle/>
                    <a:p>
                      <a:pPr marL="55245">
                        <a:lnSpc>
                          <a:spcPct val="115000"/>
                        </a:lnSpc>
                        <a:buNone/>
                      </a:pPr>
                      <a:r>
                        <a:rPr lang="vi-VN" sz="1300">
                          <a:effectLst/>
                        </a:rPr>
                        <a:t>RoBERTa Student</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17</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2</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8.50</a:t>
                      </a:r>
                      <a:endParaRPr lang="vi-VN" sz="1300">
                        <a:effectLst/>
                        <a:latin typeface="Times New Roman" panose="02020603050405020304" pitchFamily="18" charset="0"/>
                        <a:ea typeface="Times New Roman" panose="02020603050405020304" pitchFamily="18" charset="0"/>
                      </a:endParaRPr>
                    </a:p>
                  </a:txBody>
                  <a:tcPr marL="38100" marR="38100" marT="38100" marB="38100"/>
                </a:tc>
                <a:tc>
                  <a:txBody>
                    <a:bodyPr/>
                    <a:lstStyle/>
                    <a:p>
                      <a:pPr marL="55245">
                        <a:lnSpc>
                          <a:spcPct val="115000"/>
                        </a:lnSpc>
                        <a:buNone/>
                      </a:pPr>
                      <a:r>
                        <a:rPr lang="vi-VN" sz="1300">
                          <a:effectLst/>
                        </a:rPr>
                        <a:t>10222.50 ký tự</a:t>
                      </a:r>
                      <a:endParaRPr lang="vi-VN" sz="1300">
                        <a:effectLst/>
                        <a:latin typeface="Times New Roman" panose="02020603050405020304" pitchFamily="18" charset="0"/>
                        <a:ea typeface="Times New Roman" panose="02020603050405020304" pitchFamily="18" charset="0"/>
                      </a:endParaRPr>
                    </a:p>
                  </a:txBody>
                  <a:tcPr marL="38100" marR="38100" marT="38100" marB="38100"/>
                </a:tc>
                <a:extLst>
                  <a:ext uri="{0D108BD9-81ED-4DB2-BD59-A6C34878D82A}">
                    <a16:rowId xmlns:a16="http://schemas.microsoft.com/office/drawing/2014/main" val="3824615154"/>
                  </a:ext>
                </a:extLst>
              </a:tr>
            </a:tbl>
          </a:graphicData>
        </a:graphic>
      </p:graphicFrame>
      <p:graphicFrame>
        <p:nvGraphicFramePr>
          <p:cNvPr id="10" name="Table 9">
            <a:extLst>
              <a:ext uri="{FF2B5EF4-FFF2-40B4-BE49-F238E27FC236}">
                <a16:creationId xmlns:a16="http://schemas.microsoft.com/office/drawing/2014/main" id="{5C6EA01F-34F9-F3C2-DD47-D502B83EB5DF}"/>
              </a:ext>
            </a:extLst>
          </p:cNvPr>
          <p:cNvGraphicFramePr>
            <a:graphicFrameLocks noGrp="1"/>
          </p:cNvGraphicFramePr>
          <p:nvPr>
            <p:extLst>
              <p:ext uri="{D42A27DB-BD31-4B8C-83A1-F6EECF244321}">
                <p14:modId xmlns:p14="http://schemas.microsoft.com/office/powerpoint/2010/main" val="3070510961"/>
              </p:ext>
            </p:extLst>
          </p:nvPr>
        </p:nvGraphicFramePr>
        <p:xfrm>
          <a:off x="6096000" y="918603"/>
          <a:ext cx="5223508" cy="2284964"/>
        </p:xfrm>
        <a:graphic>
          <a:graphicData uri="http://schemas.openxmlformats.org/drawingml/2006/table">
            <a:tbl>
              <a:tblPr>
                <a:tableStyleId>{C59BCFFA-FBAA-4B6E-87EC-B02885E3A683}</a:tableStyleId>
              </a:tblPr>
              <a:tblGrid>
                <a:gridCol w="1305877">
                  <a:extLst>
                    <a:ext uri="{9D8B030D-6E8A-4147-A177-3AD203B41FA5}">
                      <a16:colId xmlns:a16="http://schemas.microsoft.com/office/drawing/2014/main" val="1027786950"/>
                    </a:ext>
                  </a:extLst>
                </a:gridCol>
                <a:gridCol w="1305877">
                  <a:extLst>
                    <a:ext uri="{9D8B030D-6E8A-4147-A177-3AD203B41FA5}">
                      <a16:colId xmlns:a16="http://schemas.microsoft.com/office/drawing/2014/main" val="386580742"/>
                    </a:ext>
                  </a:extLst>
                </a:gridCol>
                <a:gridCol w="1305877">
                  <a:extLst>
                    <a:ext uri="{9D8B030D-6E8A-4147-A177-3AD203B41FA5}">
                      <a16:colId xmlns:a16="http://schemas.microsoft.com/office/drawing/2014/main" val="511137186"/>
                    </a:ext>
                  </a:extLst>
                </a:gridCol>
                <a:gridCol w="1305877">
                  <a:extLst>
                    <a:ext uri="{9D8B030D-6E8A-4147-A177-3AD203B41FA5}">
                      <a16:colId xmlns:a16="http://schemas.microsoft.com/office/drawing/2014/main" val="1191310824"/>
                    </a:ext>
                  </a:extLst>
                </a:gridCol>
              </a:tblGrid>
              <a:tr h="730058">
                <a:tc>
                  <a:txBody>
                    <a:bodyPr/>
                    <a:lstStyle/>
                    <a:p>
                      <a:pPr algn="l">
                        <a:buNone/>
                      </a:pPr>
                      <a:r>
                        <a:rPr lang="vi-VN"/>
                        <a:t>Mô hình</a:t>
                      </a:r>
                    </a:p>
                  </a:txBody>
                  <a:tcPr anchor="ctr"/>
                </a:tc>
                <a:tc>
                  <a:txBody>
                    <a:bodyPr/>
                    <a:lstStyle/>
                    <a:p>
                      <a:pPr algn="l">
                        <a:buNone/>
                      </a:pPr>
                      <a:r>
                        <a:rPr lang="vi-VN"/>
                        <a:t>Số topic được tóm tắt</a:t>
                      </a:r>
                    </a:p>
                  </a:txBody>
                  <a:tcPr anchor="ctr"/>
                </a:tc>
                <a:tc>
                  <a:txBody>
                    <a:bodyPr/>
                    <a:lstStyle/>
                    <a:p>
                      <a:pPr algn="l">
                        <a:buNone/>
                      </a:pPr>
                      <a:r>
                        <a:rPr lang="en-US"/>
                        <a:t>Độ dài summary topic TB</a:t>
                      </a:r>
                    </a:p>
                  </a:txBody>
                  <a:tcPr anchor="ctr"/>
                </a:tc>
                <a:tc>
                  <a:txBody>
                    <a:bodyPr/>
                    <a:lstStyle/>
                    <a:p>
                      <a:pPr algn="l">
                        <a:buNone/>
                      </a:pPr>
                      <a:r>
                        <a:rPr lang="vi-VN"/>
                        <a:t>Độ dài final summary</a:t>
                      </a:r>
                    </a:p>
                  </a:txBody>
                  <a:tcPr anchor="ctr"/>
                </a:tc>
                <a:extLst>
                  <a:ext uri="{0D108BD9-81ED-4DB2-BD59-A6C34878D82A}">
                    <a16:rowId xmlns:a16="http://schemas.microsoft.com/office/drawing/2014/main" val="1497767635"/>
                  </a:ext>
                </a:extLst>
              </a:tr>
              <a:tr h="517124">
                <a:tc>
                  <a:txBody>
                    <a:bodyPr/>
                    <a:lstStyle/>
                    <a:p>
                      <a:pPr algn="l">
                        <a:buNone/>
                      </a:pPr>
                      <a:r>
                        <a:rPr lang="vi-VN"/>
                        <a:t>vinai/phobert-base</a:t>
                      </a:r>
                    </a:p>
                  </a:txBody>
                  <a:tcPr anchor="ctr"/>
                </a:tc>
                <a:tc>
                  <a:txBody>
                    <a:bodyPr/>
                    <a:lstStyle/>
                    <a:p>
                      <a:pPr algn="l">
                        <a:buNone/>
                      </a:pPr>
                      <a:r>
                        <a:rPr lang="vi-VN"/>
                        <a:t>3</a:t>
                      </a:r>
                    </a:p>
                  </a:txBody>
                  <a:tcPr anchor="ctr"/>
                </a:tc>
                <a:tc>
                  <a:txBody>
                    <a:bodyPr/>
                    <a:lstStyle/>
                    <a:p>
                      <a:pPr algn="l">
                        <a:buNone/>
                      </a:pPr>
                      <a:r>
                        <a:rPr lang="vi-VN"/>
                        <a:t>483.00 ký tự</a:t>
                      </a:r>
                    </a:p>
                  </a:txBody>
                  <a:tcPr anchor="ctr"/>
                </a:tc>
                <a:tc>
                  <a:txBody>
                    <a:bodyPr/>
                    <a:lstStyle/>
                    <a:p>
                      <a:pPr algn="l">
                        <a:buNone/>
                      </a:pPr>
                      <a:r>
                        <a:rPr lang="vi-VN"/>
                        <a:t>1579 ký tự</a:t>
                      </a:r>
                    </a:p>
                  </a:txBody>
                  <a:tcPr anchor="ctr"/>
                </a:tc>
                <a:extLst>
                  <a:ext uri="{0D108BD9-81ED-4DB2-BD59-A6C34878D82A}">
                    <a16:rowId xmlns:a16="http://schemas.microsoft.com/office/drawing/2014/main" val="4072813557"/>
                  </a:ext>
                </a:extLst>
              </a:tr>
              <a:tr h="517124">
                <a:tc>
                  <a:txBody>
                    <a:bodyPr/>
                    <a:lstStyle/>
                    <a:p>
                      <a:pPr algn="l">
                        <a:buNone/>
                      </a:pPr>
                      <a:r>
                        <a:rPr lang="vi-VN"/>
                        <a:t>BGE-M3</a:t>
                      </a:r>
                    </a:p>
                  </a:txBody>
                  <a:tcPr anchor="ctr"/>
                </a:tc>
                <a:tc>
                  <a:txBody>
                    <a:bodyPr/>
                    <a:lstStyle/>
                    <a:p>
                      <a:pPr algn="l">
                        <a:buNone/>
                      </a:pPr>
                      <a:r>
                        <a:rPr lang="vi-VN"/>
                        <a:t>9</a:t>
                      </a:r>
                    </a:p>
                  </a:txBody>
                  <a:tcPr anchor="ctr"/>
                </a:tc>
                <a:tc>
                  <a:txBody>
                    <a:bodyPr/>
                    <a:lstStyle/>
                    <a:p>
                      <a:pPr algn="l">
                        <a:buNone/>
                      </a:pPr>
                      <a:r>
                        <a:rPr lang="vi-VN"/>
                        <a:t>489.33 ký tự</a:t>
                      </a:r>
                    </a:p>
                  </a:txBody>
                  <a:tcPr anchor="ctr"/>
                </a:tc>
                <a:tc>
                  <a:txBody>
                    <a:bodyPr/>
                    <a:lstStyle/>
                    <a:p>
                      <a:pPr algn="l">
                        <a:buNone/>
                      </a:pPr>
                      <a:r>
                        <a:rPr lang="vi-VN"/>
                        <a:t>2013 ký tự</a:t>
                      </a:r>
                    </a:p>
                  </a:txBody>
                  <a:tcPr anchor="ctr"/>
                </a:tc>
                <a:extLst>
                  <a:ext uri="{0D108BD9-81ED-4DB2-BD59-A6C34878D82A}">
                    <a16:rowId xmlns:a16="http://schemas.microsoft.com/office/drawing/2014/main" val="264794001"/>
                  </a:ext>
                </a:extLst>
              </a:tr>
              <a:tr h="517124">
                <a:tc>
                  <a:txBody>
                    <a:bodyPr/>
                    <a:lstStyle/>
                    <a:p>
                      <a:pPr algn="l">
                        <a:buNone/>
                      </a:pPr>
                      <a:r>
                        <a:rPr lang="vi-VN"/>
                        <a:t>RoBERTa Student</a:t>
                      </a:r>
                    </a:p>
                  </a:txBody>
                  <a:tcPr anchor="ctr"/>
                </a:tc>
                <a:tc>
                  <a:txBody>
                    <a:bodyPr/>
                    <a:lstStyle/>
                    <a:p>
                      <a:pPr algn="l">
                        <a:buNone/>
                      </a:pPr>
                      <a:r>
                        <a:rPr lang="vi-VN"/>
                        <a:t>2</a:t>
                      </a:r>
                    </a:p>
                  </a:txBody>
                  <a:tcPr anchor="ctr"/>
                </a:tc>
                <a:tc>
                  <a:txBody>
                    <a:bodyPr/>
                    <a:lstStyle/>
                    <a:p>
                      <a:pPr algn="l">
                        <a:buNone/>
                      </a:pPr>
                      <a:r>
                        <a:rPr lang="vi-VN"/>
                        <a:t>645.50 ký tự</a:t>
                      </a:r>
                    </a:p>
                  </a:txBody>
                  <a:tcPr anchor="ctr"/>
                </a:tc>
                <a:tc>
                  <a:txBody>
                    <a:bodyPr/>
                    <a:lstStyle/>
                    <a:p>
                      <a:pPr algn="l">
                        <a:buNone/>
                      </a:pPr>
                      <a:r>
                        <a:rPr lang="vi-VN"/>
                        <a:t>1234 ký tự</a:t>
                      </a:r>
                    </a:p>
                  </a:txBody>
                  <a:tcPr anchor="ctr"/>
                </a:tc>
                <a:extLst>
                  <a:ext uri="{0D108BD9-81ED-4DB2-BD59-A6C34878D82A}">
                    <a16:rowId xmlns:a16="http://schemas.microsoft.com/office/drawing/2014/main" val="3147584731"/>
                  </a:ext>
                </a:extLst>
              </a:tr>
            </a:tbl>
          </a:graphicData>
        </a:graphic>
      </p:graphicFrame>
      <p:graphicFrame>
        <p:nvGraphicFramePr>
          <p:cNvPr id="15" name="Table 14">
            <a:extLst>
              <a:ext uri="{FF2B5EF4-FFF2-40B4-BE49-F238E27FC236}">
                <a16:creationId xmlns:a16="http://schemas.microsoft.com/office/drawing/2014/main" id="{63A9E8F0-B40E-B3D0-9E59-2C4E7EEB6519}"/>
              </a:ext>
            </a:extLst>
          </p:cNvPr>
          <p:cNvGraphicFramePr>
            <a:graphicFrameLocks noGrp="1"/>
          </p:cNvGraphicFramePr>
          <p:nvPr>
            <p:extLst>
              <p:ext uri="{D42A27DB-BD31-4B8C-83A1-F6EECF244321}">
                <p14:modId xmlns:p14="http://schemas.microsoft.com/office/powerpoint/2010/main" val="4180728777"/>
              </p:ext>
            </p:extLst>
          </p:nvPr>
        </p:nvGraphicFramePr>
        <p:xfrm>
          <a:off x="680085" y="3391694"/>
          <a:ext cx="5223512" cy="2419828"/>
        </p:xfrm>
        <a:graphic>
          <a:graphicData uri="http://schemas.openxmlformats.org/drawingml/2006/table">
            <a:tbl>
              <a:tblPr>
                <a:tableStyleId>{C59BCFFA-FBAA-4B6E-87EC-B02885E3A683}</a:tableStyleId>
              </a:tblPr>
              <a:tblGrid>
                <a:gridCol w="1016635">
                  <a:extLst>
                    <a:ext uri="{9D8B030D-6E8A-4147-A177-3AD203B41FA5}">
                      <a16:colId xmlns:a16="http://schemas.microsoft.com/office/drawing/2014/main" val="42757944"/>
                    </a:ext>
                  </a:extLst>
                </a:gridCol>
                <a:gridCol w="1097280">
                  <a:extLst>
                    <a:ext uri="{9D8B030D-6E8A-4147-A177-3AD203B41FA5}">
                      <a16:colId xmlns:a16="http://schemas.microsoft.com/office/drawing/2014/main" val="2298869730"/>
                    </a:ext>
                  </a:extLst>
                </a:gridCol>
                <a:gridCol w="1422400">
                  <a:extLst>
                    <a:ext uri="{9D8B030D-6E8A-4147-A177-3AD203B41FA5}">
                      <a16:colId xmlns:a16="http://schemas.microsoft.com/office/drawing/2014/main" val="1445215682"/>
                    </a:ext>
                  </a:extLst>
                </a:gridCol>
                <a:gridCol w="1687197">
                  <a:extLst>
                    <a:ext uri="{9D8B030D-6E8A-4147-A177-3AD203B41FA5}">
                      <a16:colId xmlns:a16="http://schemas.microsoft.com/office/drawing/2014/main" val="2950565725"/>
                    </a:ext>
                  </a:extLst>
                </a:gridCol>
              </a:tblGrid>
              <a:tr h="604957">
                <a:tc>
                  <a:txBody>
                    <a:bodyPr/>
                    <a:lstStyle/>
                    <a:p>
                      <a:pPr algn="l">
                        <a:buNone/>
                      </a:pPr>
                      <a:r>
                        <a:rPr lang="vi-VN"/>
                        <a:t>Mô hình</a:t>
                      </a:r>
                    </a:p>
                  </a:txBody>
                  <a:tcPr anchor="ctr"/>
                </a:tc>
                <a:tc>
                  <a:txBody>
                    <a:bodyPr/>
                    <a:lstStyle/>
                    <a:p>
                      <a:pPr algn="l">
                        <a:buNone/>
                      </a:pPr>
                      <a:r>
                        <a:rPr lang="vi-VN"/>
                        <a:t>Số block</a:t>
                      </a:r>
                    </a:p>
                  </a:txBody>
                  <a:tcPr anchor="ctr"/>
                </a:tc>
                <a:tc>
                  <a:txBody>
                    <a:bodyPr/>
                    <a:lstStyle/>
                    <a:p>
                      <a:pPr algn="l">
                        <a:buNone/>
                      </a:pPr>
                      <a:r>
                        <a:rPr lang="vi-VN"/>
                        <a:t>Số topic</a:t>
                      </a:r>
                    </a:p>
                  </a:txBody>
                  <a:tcPr anchor="ctr"/>
                </a:tc>
                <a:tc>
                  <a:txBody>
                    <a:bodyPr/>
                    <a:lstStyle/>
                    <a:p>
                      <a:pPr algn="l">
                        <a:buNone/>
                      </a:pPr>
                      <a:r>
                        <a:rPr lang="vi-VN"/>
                        <a:t>Thời gian xử lý</a:t>
                      </a:r>
                    </a:p>
                  </a:txBody>
                  <a:tcPr anchor="ctr"/>
                </a:tc>
                <a:extLst>
                  <a:ext uri="{0D108BD9-81ED-4DB2-BD59-A6C34878D82A}">
                    <a16:rowId xmlns:a16="http://schemas.microsoft.com/office/drawing/2014/main" val="2846118296"/>
                  </a:ext>
                </a:extLst>
              </a:tr>
              <a:tr h="604957">
                <a:tc>
                  <a:txBody>
                    <a:bodyPr/>
                    <a:lstStyle/>
                    <a:p>
                      <a:pPr algn="l">
                        <a:buNone/>
                      </a:pPr>
                      <a:r>
                        <a:rPr lang="vi-VN"/>
                        <a:t>vinai/phobert-base</a:t>
                      </a:r>
                    </a:p>
                  </a:txBody>
                  <a:tcPr anchor="ctr"/>
                </a:tc>
                <a:tc>
                  <a:txBody>
                    <a:bodyPr/>
                    <a:lstStyle/>
                    <a:p>
                      <a:pPr algn="l">
                        <a:buNone/>
                      </a:pPr>
                      <a:r>
                        <a:rPr lang="vi-VN"/>
                        <a:t>17</a:t>
                      </a:r>
                    </a:p>
                  </a:txBody>
                  <a:tcPr anchor="ctr"/>
                </a:tc>
                <a:tc>
                  <a:txBody>
                    <a:bodyPr/>
                    <a:lstStyle/>
                    <a:p>
                      <a:pPr algn="l">
                        <a:buNone/>
                      </a:pPr>
                      <a:r>
                        <a:rPr lang="vi-VN"/>
                        <a:t>3</a:t>
                      </a:r>
                    </a:p>
                  </a:txBody>
                  <a:tcPr anchor="ctr"/>
                </a:tc>
                <a:tc>
                  <a:txBody>
                    <a:bodyPr/>
                    <a:lstStyle/>
                    <a:p>
                      <a:pPr algn="l">
                        <a:buNone/>
                      </a:pPr>
                      <a:r>
                        <a:rPr lang="vi-VN"/>
                        <a:t>0.38 giây</a:t>
                      </a:r>
                    </a:p>
                  </a:txBody>
                  <a:tcPr anchor="ctr"/>
                </a:tc>
                <a:extLst>
                  <a:ext uri="{0D108BD9-81ED-4DB2-BD59-A6C34878D82A}">
                    <a16:rowId xmlns:a16="http://schemas.microsoft.com/office/drawing/2014/main" val="1218369984"/>
                  </a:ext>
                </a:extLst>
              </a:tr>
              <a:tr h="604957">
                <a:tc>
                  <a:txBody>
                    <a:bodyPr/>
                    <a:lstStyle/>
                    <a:p>
                      <a:pPr algn="l">
                        <a:buNone/>
                      </a:pPr>
                      <a:r>
                        <a:rPr lang="vi-VN"/>
                        <a:t>BGE-M3</a:t>
                      </a:r>
                    </a:p>
                  </a:txBody>
                  <a:tcPr anchor="ctr"/>
                </a:tc>
                <a:tc>
                  <a:txBody>
                    <a:bodyPr/>
                    <a:lstStyle/>
                    <a:p>
                      <a:pPr algn="l">
                        <a:buNone/>
                      </a:pPr>
                      <a:r>
                        <a:rPr lang="vi-VN"/>
                        <a:t>17</a:t>
                      </a:r>
                    </a:p>
                  </a:txBody>
                  <a:tcPr anchor="ctr"/>
                </a:tc>
                <a:tc>
                  <a:txBody>
                    <a:bodyPr/>
                    <a:lstStyle/>
                    <a:p>
                      <a:pPr algn="l">
                        <a:buNone/>
                      </a:pPr>
                      <a:r>
                        <a:rPr lang="vi-VN"/>
                        <a:t>9</a:t>
                      </a:r>
                    </a:p>
                  </a:txBody>
                  <a:tcPr anchor="ctr"/>
                </a:tc>
                <a:tc>
                  <a:txBody>
                    <a:bodyPr/>
                    <a:lstStyle/>
                    <a:p>
                      <a:pPr algn="l">
                        <a:buNone/>
                      </a:pPr>
                      <a:r>
                        <a:rPr lang="vi-VN"/>
                        <a:t>1.27 giây</a:t>
                      </a:r>
                    </a:p>
                  </a:txBody>
                  <a:tcPr anchor="ctr"/>
                </a:tc>
                <a:extLst>
                  <a:ext uri="{0D108BD9-81ED-4DB2-BD59-A6C34878D82A}">
                    <a16:rowId xmlns:a16="http://schemas.microsoft.com/office/drawing/2014/main" val="269673261"/>
                  </a:ext>
                </a:extLst>
              </a:tr>
              <a:tr h="604957">
                <a:tc>
                  <a:txBody>
                    <a:bodyPr/>
                    <a:lstStyle/>
                    <a:p>
                      <a:pPr algn="l">
                        <a:buNone/>
                      </a:pPr>
                      <a:r>
                        <a:rPr lang="vi-VN"/>
                        <a:t>RoBERTa Student</a:t>
                      </a:r>
                    </a:p>
                  </a:txBody>
                  <a:tcPr anchor="ctr"/>
                </a:tc>
                <a:tc>
                  <a:txBody>
                    <a:bodyPr/>
                    <a:lstStyle/>
                    <a:p>
                      <a:pPr algn="l">
                        <a:buNone/>
                      </a:pPr>
                      <a:r>
                        <a:rPr lang="vi-VN"/>
                        <a:t>17</a:t>
                      </a:r>
                    </a:p>
                  </a:txBody>
                  <a:tcPr anchor="ctr"/>
                </a:tc>
                <a:tc>
                  <a:txBody>
                    <a:bodyPr/>
                    <a:lstStyle/>
                    <a:p>
                      <a:pPr algn="l">
                        <a:buNone/>
                      </a:pPr>
                      <a:r>
                        <a:rPr lang="vi-VN"/>
                        <a:t>2</a:t>
                      </a:r>
                    </a:p>
                  </a:txBody>
                  <a:tcPr anchor="ctr"/>
                </a:tc>
                <a:tc>
                  <a:txBody>
                    <a:bodyPr/>
                    <a:lstStyle/>
                    <a:p>
                      <a:pPr algn="l">
                        <a:buNone/>
                      </a:pPr>
                      <a:r>
                        <a:rPr lang="vi-VN"/>
                        <a:t>0.15 giây</a:t>
                      </a:r>
                    </a:p>
                  </a:txBody>
                  <a:tcPr anchor="ctr"/>
                </a:tc>
                <a:extLst>
                  <a:ext uri="{0D108BD9-81ED-4DB2-BD59-A6C34878D82A}">
                    <a16:rowId xmlns:a16="http://schemas.microsoft.com/office/drawing/2014/main" val="3780691113"/>
                  </a:ext>
                </a:extLst>
              </a:tr>
            </a:tbl>
          </a:graphicData>
        </a:graphic>
      </p:graphicFrame>
      <p:graphicFrame>
        <p:nvGraphicFramePr>
          <p:cNvPr id="16" name="Table 15">
            <a:extLst>
              <a:ext uri="{FF2B5EF4-FFF2-40B4-BE49-F238E27FC236}">
                <a16:creationId xmlns:a16="http://schemas.microsoft.com/office/drawing/2014/main" id="{7BC71033-7E67-DFDE-0EE8-5C6595EB0819}"/>
              </a:ext>
            </a:extLst>
          </p:cNvPr>
          <p:cNvGraphicFramePr>
            <a:graphicFrameLocks noGrp="1"/>
          </p:cNvGraphicFramePr>
          <p:nvPr>
            <p:extLst>
              <p:ext uri="{D42A27DB-BD31-4B8C-83A1-F6EECF244321}">
                <p14:modId xmlns:p14="http://schemas.microsoft.com/office/powerpoint/2010/main" val="1232018568"/>
              </p:ext>
            </p:extLst>
          </p:nvPr>
        </p:nvGraphicFramePr>
        <p:xfrm>
          <a:off x="6096000" y="3391695"/>
          <a:ext cx="5257800" cy="2419828"/>
        </p:xfrm>
        <a:graphic>
          <a:graphicData uri="http://schemas.openxmlformats.org/drawingml/2006/table">
            <a:tbl>
              <a:tblPr>
                <a:tableStyleId>{C59BCFFA-FBAA-4B6E-87EC-B02885E3A683}</a:tableStyleId>
              </a:tblPr>
              <a:tblGrid>
                <a:gridCol w="1752600">
                  <a:extLst>
                    <a:ext uri="{9D8B030D-6E8A-4147-A177-3AD203B41FA5}">
                      <a16:colId xmlns:a16="http://schemas.microsoft.com/office/drawing/2014/main" val="2680057602"/>
                    </a:ext>
                  </a:extLst>
                </a:gridCol>
                <a:gridCol w="1752600">
                  <a:extLst>
                    <a:ext uri="{9D8B030D-6E8A-4147-A177-3AD203B41FA5}">
                      <a16:colId xmlns:a16="http://schemas.microsoft.com/office/drawing/2014/main" val="675809456"/>
                    </a:ext>
                  </a:extLst>
                </a:gridCol>
                <a:gridCol w="1752600">
                  <a:extLst>
                    <a:ext uri="{9D8B030D-6E8A-4147-A177-3AD203B41FA5}">
                      <a16:colId xmlns:a16="http://schemas.microsoft.com/office/drawing/2014/main" val="1314042272"/>
                    </a:ext>
                  </a:extLst>
                </a:gridCol>
              </a:tblGrid>
              <a:tr h="750043">
                <a:tc>
                  <a:txBody>
                    <a:bodyPr/>
                    <a:lstStyle/>
                    <a:p>
                      <a:pPr algn="l">
                        <a:buNone/>
                      </a:pPr>
                      <a:r>
                        <a:rPr lang="vi-VN"/>
                        <a:t>Mô hình embedding dùng để chia topic</a:t>
                      </a:r>
                    </a:p>
                  </a:txBody>
                  <a:tcPr anchor="ctr"/>
                </a:tc>
                <a:tc>
                  <a:txBody>
                    <a:bodyPr/>
                    <a:lstStyle/>
                    <a:p>
                      <a:pPr algn="l">
                        <a:buNone/>
                      </a:pPr>
                      <a:r>
                        <a:rPr lang="vi-VN"/>
                        <a:t>Số topic</a:t>
                      </a:r>
                    </a:p>
                  </a:txBody>
                  <a:tcPr anchor="ctr"/>
                </a:tc>
                <a:tc>
                  <a:txBody>
                    <a:bodyPr/>
                    <a:lstStyle/>
                    <a:p>
                      <a:pPr algn="l">
                        <a:buNone/>
                      </a:pPr>
                      <a:r>
                        <a:rPr lang="vi-VN"/>
                        <a:t>Thời gian tóm tắt</a:t>
                      </a:r>
                    </a:p>
                  </a:txBody>
                  <a:tcPr anchor="ctr"/>
                </a:tc>
                <a:extLst>
                  <a:ext uri="{0D108BD9-81ED-4DB2-BD59-A6C34878D82A}">
                    <a16:rowId xmlns:a16="http://schemas.microsoft.com/office/drawing/2014/main" val="2584648485"/>
                  </a:ext>
                </a:extLst>
              </a:tr>
              <a:tr h="556595">
                <a:tc>
                  <a:txBody>
                    <a:bodyPr/>
                    <a:lstStyle/>
                    <a:p>
                      <a:pPr algn="l">
                        <a:buNone/>
                      </a:pPr>
                      <a:r>
                        <a:rPr lang="vi-VN"/>
                        <a:t>vinai/phobert-base</a:t>
                      </a:r>
                    </a:p>
                  </a:txBody>
                  <a:tcPr anchor="ctr"/>
                </a:tc>
                <a:tc>
                  <a:txBody>
                    <a:bodyPr/>
                    <a:lstStyle/>
                    <a:p>
                      <a:pPr algn="l">
                        <a:buNone/>
                      </a:pPr>
                      <a:r>
                        <a:rPr lang="vi-VN"/>
                        <a:t>3</a:t>
                      </a:r>
                    </a:p>
                  </a:txBody>
                  <a:tcPr anchor="ctr"/>
                </a:tc>
                <a:tc>
                  <a:txBody>
                    <a:bodyPr/>
                    <a:lstStyle/>
                    <a:p>
                      <a:pPr algn="l">
                        <a:buNone/>
                      </a:pPr>
                      <a:r>
                        <a:rPr lang="vi-VN"/>
                        <a:t>97.73 giây</a:t>
                      </a:r>
                    </a:p>
                  </a:txBody>
                  <a:tcPr anchor="ctr"/>
                </a:tc>
                <a:extLst>
                  <a:ext uri="{0D108BD9-81ED-4DB2-BD59-A6C34878D82A}">
                    <a16:rowId xmlns:a16="http://schemas.microsoft.com/office/drawing/2014/main" val="640249869"/>
                  </a:ext>
                </a:extLst>
              </a:tr>
              <a:tr h="556595">
                <a:tc>
                  <a:txBody>
                    <a:bodyPr/>
                    <a:lstStyle/>
                    <a:p>
                      <a:pPr algn="l">
                        <a:buNone/>
                      </a:pPr>
                      <a:r>
                        <a:rPr lang="vi-VN"/>
                        <a:t>BGE-M3</a:t>
                      </a:r>
                    </a:p>
                  </a:txBody>
                  <a:tcPr anchor="ctr"/>
                </a:tc>
                <a:tc>
                  <a:txBody>
                    <a:bodyPr/>
                    <a:lstStyle/>
                    <a:p>
                      <a:pPr algn="l">
                        <a:buNone/>
                      </a:pPr>
                      <a:r>
                        <a:rPr lang="vi-VN"/>
                        <a:t>9</a:t>
                      </a:r>
                    </a:p>
                  </a:txBody>
                  <a:tcPr anchor="ctr"/>
                </a:tc>
                <a:tc>
                  <a:txBody>
                    <a:bodyPr/>
                    <a:lstStyle/>
                    <a:p>
                      <a:pPr algn="l">
                        <a:buNone/>
                      </a:pPr>
                      <a:r>
                        <a:rPr lang="vi-VN"/>
                        <a:t>192.91 giây</a:t>
                      </a:r>
                    </a:p>
                  </a:txBody>
                  <a:tcPr anchor="ctr"/>
                </a:tc>
                <a:extLst>
                  <a:ext uri="{0D108BD9-81ED-4DB2-BD59-A6C34878D82A}">
                    <a16:rowId xmlns:a16="http://schemas.microsoft.com/office/drawing/2014/main" val="288547782"/>
                  </a:ext>
                </a:extLst>
              </a:tr>
              <a:tr h="556595">
                <a:tc>
                  <a:txBody>
                    <a:bodyPr/>
                    <a:lstStyle/>
                    <a:p>
                      <a:pPr algn="l">
                        <a:buNone/>
                      </a:pPr>
                      <a:r>
                        <a:rPr lang="vi-VN"/>
                        <a:t>RoBERTa Student</a:t>
                      </a:r>
                    </a:p>
                  </a:txBody>
                  <a:tcPr anchor="ctr"/>
                </a:tc>
                <a:tc>
                  <a:txBody>
                    <a:bodyPr/>
                    <a:lstStyle/>
                    <a:p>
                      <a:pPr algn="l">
                        <a:buNone/>
                      </a:pPr>
                      <a:r>
                        <a:rPr lang="vi-VN"/>
                        <a:t>2</a:t>
                      </a:r>
                    </a:p>
                  </a:txBody>
                  <a:tcPr anchor="ctr"/>
                </a:tc>
                <a:tc>
                  <a:txBody>
                    <a:bodyPr/>
                    <a:lstStyle/>
                    <a:p>
                      <a:pPr algn="l">
                        <a:buNone/>
                      </a:pPr>
                      <a:r>
                        <a:rPr lang="vi-VN"/>
                        <a:t>83.77 giây</a:t>
                      </a:r>
                    </a:p>
                  </a:txBody>
                  <a:tcPr anchor="ctr"/>
                </a:tc>
                <a:extLst>
                  <a:ext uri="{0D108BD9-81ED-4DB2-BD59-A6C34878D82A}">
                    <a16:rowId xmlns:a16="http://schemas.microsoft.com/office/drawing/2014/main" val="155262913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4AAD05B-41A9-CBB9-AEFA-E86E3F0C59E9}"/>
              </a:ext>
            </a:extLst>
          </p:cNvPr>
          <p:cNvGraphicFramePr>
            <a:graphicFrameLocks noGrp="1"/>
          </p:cNvGraphicFramePr>
          <p:nvPr>
            <p:extLst>
              <p:ext uri="{D42A27DB-BD31-4B8C-83A1-F6EECF244321}">
                <p14:modId xmlns:p14="http://schemas.microsoft.com/office/powerpoint/2010/main" val="388534302"/>
              </p:ext>
            </p:extLst>
          </p:nvPr>
        </p:nvGraphicFramePr>
        <p:xfrm>
          <a:off x="838200" y="1625600"/>
          <a:ext cx="10515600" cy="4145280"/>
        </p:xfrm>
        <a:graphic>
          <a:graphicData uri="http://schemas.openxmlformats.org/drawingml/2006/table">
            <a:tbl>
              <a:tblPr>
                <a:tableStyleId>{C59BCFFA-FBAA-4B6E-87EC-B02885E3A683}</a:tableStyleId>
              </a:tblPr>
              <a:tblGrid>
                <a:gridCol w="2103120">
                  <a:extLst>
                    <a:ext uri="{9D8B030D-6E8A-4147-A177-3AD203B41FA5}">
                      <a16:colId xmlns:a16="http://schemas.microsoft.com/office/drawing/2014/main" val="3374930450"/>
                    </a:ext>
                  </a:extLst>
                </a:gridCol>
                <a:gridCol w="2103120">
                  <a:extLst>
                    <a:ext uri="{9D8B030D-6E8A-4147-A177-3AD203B41FA5}">
                      <a16:colId xmlns:a16="http://schemas.microsoft.com/office/drawing/2014/main" val="3652557657"/>
                    </a:ext>
                  </a:extLst>
                </a:gridCol>
                <a:gridCol w="2103120">
                  <a:extLst>
                    <a:ext uri="{9D8B030D-6E8A-4147-A177-3AD203B41FA5}">
                      <a16:colId xmlns:a16="http://schemas.microsoft.com/office/drawing/2014/main" val="4003009238"/>
                    </a:ext>
                  </a:extLst>
                </a:gridCol>
                <a:gridCol w="2103120">
                  <a:extLst>
                    <a:ext uri="{9D8B030D-6E8A-4147-A177-3AD203B41FA5}">
                      <a16:colId xmlns:a16="http://schemas.microsoft.com/office/drawing/2014/main" val="651259261"/>
                    </a:ext>
                  </a:extLst>
                </a:gridCol>
                <a:gridCol w="2103120">
                  <a:extLst>
                    <a:ext uri="{9D8B030D-6E8A-4147-A177-3AD203B41FA5}">
                      <a16:colId xmlns:a16="http://schemas.microsoft.com/office/drawing/2014/main" val="1687234077"/>
                    </a:ext>
                  </a:extLst>
                </a:gridCol>
              </a:tblGrid>
              <a:tr h="1036320">
                <a:tc>
                  <a:txBody>
                    <a:bodyPr/>
                    <a:lstStyle/>
                    <a:p>
                      <a:pPr algn="l">
                        <a:buNone/>
                      </a:pPr>
                      <a:r>
                        <a:rPr lang="vi-VN"/>
                        <a:t>Mô hình</a:t>
                      </a:r>
                    </a:p>
                  </a:txBody>
                  <a:tcPr anchor="ctr"/>
                </a:tc>
                <a:tc>
                  <a:txBody>
                    <a:bodyPr/>
                    <a:lstStyle/>
                    <a:p>
                      <a:pPr algn="l">
                        <a:buNone/>
                      </a:pPr>
                      <a:r>
                        <a:rPr lang="vi-VN"/>
                        <a:t>Top-k block</a:t>
                      </a:r>
                    </a:p>
                  </a:txBody>
                  <a:tcPr anchor="ctr"/>
                </a:tc>
                <a:tc>
                  <a:txBody>
                    <a:bodyPr/>
                    <a:lstStyle/>
                    <a:p>
                      <a:pPr algn="l">
                        <a:buNone/>
                      </a:pPr>
                      <a:r>
                        <a:rPr lang="vi-VN"/>
                        <a:t>Thời gian QA</a:t>
                      </a:r>
                    </a:p>
                  </a:txBody>
                  <a:tcPr anchor="ctr"/>
                </a:tc>
                <a:tc>
                  <a:txBody>
                    <a:bodyPr/>
                    <a:lstStyle/>
                    <a:p>
                      <a:pPr algn="l">
                        <a:buNone/>
                      </a:pPr>
                      <a:r>
                        <a:rPr lang="vi-VN"/>
                        <a:t>Avg similarity</a:t>
                      </a:r>
                    </a:p>
                  </a:txBody>
                  <a:tcPr anchor="ctr"/>
                </a:tc>
                <a:tc>
                  <a:txBody>
                    <a:bodyPr/>
                    <a:lstStyle/>
                    <a:p>
                      <a:pPr algn="l">
                        <a:buNone/>
                      </a:pPr>
                      <a:r>
                        <a:rPr lang="vi-VN"/>
                        <a:t>Top similarity</a:t>
                      </a:r>
                    </a:p>
                  </a:txBody>
                  <a:tcPr anchor="ctr"/>
                </a:tc>
                <a:extLst>
                  <a:ext uri="{0D108BD9-81ED-4DB2-BD59-A6C34878D82A}">
                    <a16:rowId xmlns:a16="http://schemas.microsoft.com/office/drawing/2014/main" val="2893271717"/>
                  </a:ext>
                </a:extLst>
              </a:tr>
              <a:tr h="1036320">
                <a:tc>
                  <a:txBody>
                    <a:bodyPr/>
                    <a:lstStyle/>
                    <a:p>
                      <a:pPr algn="l">
                        <a:buNone/>
                      </a:pPr>
                      <a:r>
                        <a:rPr lang="vi-VN"/>
                        <a:t>vinai/phobert-base</a:t>
                      </a:r>
                    </a:p>
                  </a:txBody>
                  <a:tcPr anchor="ctr"/>
                </a:tc>
                <a:tc>
                  <a:txBody>
                    <a:bodyPr/>
                    <a:lstStyle/>
                    <a:p>
                      <a:pPr algn="l">
                        <a:buNone/>
                      </a:pPr>
                      <a:r>
                        <a:rPr lang="vi-VN"/>
                        <a:t>5</a:t>
                      </a:r>
                    </a:p>
                  </a:txBody>
                  <a:tcPr anchor="ctr"/>
                </a:tc>
                <a:tc>
                  <a:txBody>
                    <a:bodyPr/>
                    <a:lstStyle/>
                    <a:p>
                      <a:pPr algn="l">
                        <a:buNone/>
                      </a:pPr>
                      <a:r>
                        <a:rPr lang="vi-VN"/>
                        <a:t>76.78 giây</a:t>
                      </a:r>
                    </a:p>
                  </a:txBody>
                  <a:tcPr anchor="ctr"/>
                </a:tc>
                <a:tc>
                  <a:txBody>
                    <a:bodyPr/>
                    <a:lstStyle/>
                    <a:p>
                      <a:pPr algn="l">
                        <a:buNone/>
                      </a:pPr>
                      <a:r>
                        <a:rPr lang="vi-VN"/>
                        <a:t>0.5729</a:t>
                      </a:r>
                    </a:p>
                  </a:txBody>
                  <a:tcPr anchor="ctr"/>
                </a:tc>
                <a:tc>
                  <a:txBody>
                    <a:bodyPr/>
                    <a:lstStyle/>
                    <a:p>
                      <a:pPr algn="l">
                        <a:buNone/>
                      </a:pPr>
                      <a:r>
                        <a:rPr lang="vi-VN"/>
                        <a:t>0.5841</a:t>
                      </a:r>
                    </a:p>
                  </a:txBody>
                  <a:tcPr anchor="ctr"/>
                </a:tc>
                <a:extLst>
                  <a:ext uri="{0D108BD9-81ED-4DB2-BD59-A6C34878D82A}">
                    <a16:rowId xmlns:a16="http://schemas.microsoft.com/office/drawing/2014/main" val="4136074810"/>
                  </a:ext>
                </a:extLst>
              </a:tr>
              <a:tr h="1036320">
                <a:tc>
                  <a:txBody>
                    <a:bodyPr/>
                    <a:lstStyle/>
                    <a:p>
                      <a:pPr algn="l">
                        <a:buNone/>
                      </a:pPr>
                      <a:r>
                        <a:rPr lang="vi-VN"/>
                        <a:t>BGE-M3</a:t>
                      </a:r>
                    </a:p>
                  </a:txBody>
                  <a:tcPr anchor="ctr"/>
                </a:tc>
                <a:tc>
                  <a:txBody>
                    <a:bodyPr/>
                    <a:lstStyle/>
                    <a:p>
                      <a:pPr algn="l">
                        <a:buNone/>
                      </a:pPr>
                      <a:r>
                        <a:rPr lang="vi-VN"/>
                        <a:t>5</a:t>
                      </a:r>
                    </a:p>
                  </a:txBody>
                  <a:tcPr anchor="ctr"/>
                </a:tc>
                <a:tc>
                  <a:txBody>
                    <a:bodyPr/>
                    <a:lstStyle/>
                    <a:p>
                      <a:pPr algn="l">
                        <a:buNone/>
                      </a:pPr>
                      <a:r>
                        <a:rPr lang="vi-VN"/>
                        <a:t>40.44 giây</a:t>
                      </a:r>
                    </a:p>
                  </a:txBody>
                  <a:tcPr anchor="ctr"/>
                </a:tc>
                <a:tc>
                  <a:txBody>
                    <a:bodyPr/>
                    <a:lstStyle/>
                    <a:p>
                      <a:pPr algn="l">
                        <a:buNone/>
                      </a:pPr>
                      <a:r>
                        <a:rPr lang="vi-VN"/>
                        <a:t>0.3951</a:t>
                      </a:r>
                    </a:p>
                  </a:txBody>
                  <a:tcPr anchor="ctr"/>
                </a:tc>
                <a:tc>
                  <a:txBody>
                    <a:bodyPr/>
                    <a:lstStyle/>
                    <a:p>
                      <a:pPr algn="l">
                        <a:buNone/>
                      </a:pPr>
                      <a:r>
                        <a:rPr lang="vi-VN"/>
                        <a:t>0.4247</a:t>
                      </a:r>
                    </a:p>
                  </a:txBody>
                  <a:tcPr anchor="ctr"/>
                </a:tc>
                <a:extLst>
                  <a:ext uri="{0D108BD9-81ED-4DB2-BD59-A6C34878D82A}">
                    <a16:rowId xmlns:a16="http://schemas.microsoft.com/office/drawing/2014/main" val="2757976796"/>
                  </a:ext>
                </a:extLst>
              </a:tr>
              <a:tr h="1036320">
                <a:tc>
                  <a:txBody>
                    <a:bodyPr/>
                    <a:lstStyle/>
                    <a:p>
                      <a:pPr algn="l">
                        <a:buNone/>
                      </a:pPr>
                      <a:r>
                        <a:rPr lang="vi-VN"/>
                        <a:t>RoBERTa Student</a:t>
                      </a:r>
                    </a:p>
                  </a:txBody>
                  <a:tcPr anchor="ctr"/>
                </a:tc>
                <a:tc>
                  <a:txBody>
                    <a:bodyPr/>
                    <a:lstStyle/>
                    <a:p>
                      <a:pPr algn="l">
                        <a:buNone/>
                      </a:pPr>
                      <a:r>
                        <a:rPr lang="vi-VN"/>
                        <a:t>5</a:t>
                      </a:r>
                    </a:p>
                  </a:txBody>
                  <a:tcPr anchor="ctr"/>
                </a:tc>
                <a:tc>
                  <a:txBody>
                    <a:bodyPr/>
                    <a:lstStyle/>
                    <a:p>
                      <a:pPr algn="l">
                        <a:buNone/>
                      </a:pPr>
                      <a:r>
                        <a:rPr lang="vi-VN"/>
                        <a:t>64.21 giây</a:t>
                      </a:r>
                    </a:p>
                  </a:txBody>
                  <a:tcPr anchor="ctr"/>
                </a:tc>
                <a:tc>
                  <a:txBody>
                    <a:bodyPr/>
                    <a:lstStyle/>
                    <a:p>
                      <a:pPr algn="l">
                        <a:buNone/>
                      </a:pPr>
                      <a:r>
                        <a:rPr lang="vi-VN"/>
                        <a:t>0.7375</a:t>
                      </a:r>
                    </a:p>
                  </a:txBody>
                  <a:tcPr anchor="ctr"/>
                </a:tc>
                <a:tc>
                  <a:txBody>
                    <a:bodyPr/>
                    <a:lstStyle/>
                    <a:p>
                      <a:pPr algn="l">
                        <a:buNone/>
                      </a:pPr>
                      <a:r>
                        <a:rPr lang="vi-VN"/>
                        <a:t>0.7714</a:t>
                      </a:r>
                    </a:p>
                  </a:txBody>
                  <a:tcPr anchor="ctr"/>
                </a:tc>
                <a:extLst>
                  <a:ext uri="{0D108BD9-81ED-4DB2-BD59-A6C34878D82A}">
                    <a16:rowId xmlns:a16="http://schemas.microsoft.com/office/drawing/2014/main" val="18018644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g3dab3d66760_0_144"/>
          <p:cNvSpPr txBox="1">
            <a:spLocks noGrp="1"/>
          </p:cNvSpPr>
          <p:nvPr>
            <p:ph type="title"/>
          </p:nvPr>
        </p:nvSpPr>
        <p:spPr>
          <a:xfrm>
            <a:off x="838200" y="1823227"/>
            <a:ext cx="5142600" cy="13257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Bai Jamjuree"/>
              <a:buNone/>
            </a:pPr>
            <a:r>
              <a:rPr lang="en-VN"/>
              <a:t>Cảm ơn mọi người đã lắng nghe</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TotalTime>
  <Words>798</Words>
  <Application>Microsoft Office PowerPoint</Application>
  <PresentationFormat>Widescreen</PresentationFormat>
  <Paragraphs>180</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Play</vt:lpstr>
      <vt:lpstr>Times New Roman</vt:lpstr>
      <vt:lpstr>Bai Jamjuree</vt:lpstr>
      <vt:lpstr>Arial</vt:lpstr>
      <vt:lpstr>Bai Jamjuree Medium</vt:lpstr>
      <vt:lpstr>Office Theme</vt:lpstr>
      <vt:lpstr>Retrieval-Augmented Question Answering for IT and AI Lecture Videos on YouTube </vt:lpstr>
      <vt:lpstr>Pipeline  </vt:lpstr>
      <vt:lpstr>Thu Thập meta data</vt:lpstr>
      <vt:lpstr>Thu Thập Phụ Đề</vt:lpstr>
      <vt:lpstr>Làm sạch Phụ đề</vt:lpstr>
      <vt:lpstr>Tìm độ tương đồng của các khối và gom thành chủ đề</vt:lpstr>
      <vt:lpstr>Qwen2.5-7B-Instruct</vt:lpstr>
      <vt:lpstr>Trực Quan Hóa dữ liệu</vt:lpstr>
      <vt:lpstr>Trực Quan Hóa dữ liệu</vt:lpstr>
      <vt:lpstr>Trực Quan Hóa dữ liệu</vt:lpstr>
      <vt:lpstr>Qwen2.5-7B-Instruct</vt:lpstr>
      <vt:lpstr>Qwen3-4B-Instruct</vt:lpstr>
      <vt:lpstr> vinai/phobert-base + RoBERTa Student + bge-m3</vt:lpstr>
      <vt:lpstr>RoBERTa</vt:lpstr>
      <vt:lpstr>Dựa trên đánh giá thực nghiệm trên 1000 mẫu dữ liệu từ bộ dữ liệu VietNews, mô hình đạt được các chỉ số ấn tượng:  </vt:lpstr>
      <vt:lpstr>RoBERTa</vt:lpstr>
      <vt:lpstr>PowerPoint Presentation</vt:lpstr>
      <vt:lpstr>PowerPoint Presentation</vt:lpstr>
      <vt:lpstr>PowerPoint Presentation</vt:lpstr>
      <vt:lpstr>Cảm ơn mọi người đã lắng nghe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Huỳnh Phú Vinh</dc:creator>
  <cp:lastModifiedBy>Trung Nguyễn Thành</cp:lastModifiedBy>
  <cp:revision>15</cp:revision>
  <dcterms:created xsi:type="dcterms:W3CDTF">2025-11-21T01:36:52Z</dcterms:created>
  <dcterms:modified xsi:type="dcterms:W3CDTF">2026-05-20T03:45:32Z</dcterms:modified>
</cp:coreProperties>
</file>